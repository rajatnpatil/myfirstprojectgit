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1055"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5E84AC-C4C2-21E8-BCB1-7FF21A5A13F1}" v="2" dt="2025-08-25T05:47:30.515"/>
    <p1510:client id="{C24AC7FE-D38B-F5D0-3AFC-FAB30F55BA27}" v="6" dt="2025-08-25T05:31:04.5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 Kalpana" userId="S::kalpana.b.g@capgemini.com::2ab1bea4-b8f9-4b8a-8748-ead346edb4b0" providerId="AD" clId="Web-{C24AC7FE-D38B-F5D0-3AFC-FAB30F55BA27}"/>
    <pc:docChg chg="modSld">
      <pc:chgData name="G, Kalpana" userId="S::kalpana.b.g@capgemini.com::2ab1bea4-b8f9-4b8a-8748-ead346edb4b0" providerId="AD" clId="Web-{C24AC7FE-D38B-F5D0-3AFC-FAB30F55BA27}" dt="2025-08-25T05:31:04.595" v="5" actId="1076"/>
      <pc:docMkLst>
        <pc:docMk/>
      </pc:docMkLst>
      <pc:sldChg chg="addSp modSp">
        <pc:chgData name="G, Kalpana" userId="S::kalpana.b.g@capgemini.com::2ab1bea4-b8f9-4b8a-8748-ead346edb4b0" providerId="AD" clId="Web-{C24AC7FE-D38B-F5D0-3AFC-FAB30F55BA27}" dt="2025-08-25T05:31:04.595" v="5" actId="1076"/>
        <pc:sldMkLst>
          <pc:docMk/>
          <pc:sldMk cId="2909351325" sldId="1055"/>
        </pc:sldMkLst>
        <pc:spChg chg="add mod">
          <ac:chgData name="G, Kalpana" userId="S::kalpana.b.g@capgemini.com::2ab1bea4-b8f9-4b8a-8748-ead346edb4b0" providerId="AD" clId="Web-{C24AC7FE-D38B-F5D0-3AFC-FAB30F55BA27}" dt="2025-08-25T05:31:04.595" v="5" actId="1076"/>
          <ac:spMkLst>
            <pc:docMk/>
            <pc:sldMk cId="2909351325" sldId="1055"/>
            <ac:spMk id="7" creationId="{54AF6E7E-6B18-6ECA-2095-2691CC3E513E}"/>
          </ac:spMkLst>
        </pc:spChg>
      </pc:sldChg>
    </pc:docChg>
  </pc:docChgLst>
  <pc:docChgLst>
    <pc:chgData name="G, Kalpana" userId="S::kalpana.b.g@capgemini.com::2ab1bea4-b8f9-4b8a-8748-ead346edb4b0" providerId="AD" clId="Web-{0A5E84AC-C4C2-21E8-BCB1-7FF21A5A13F1}"/>
    <pc:docChg chg="modSld">
      <pc:chgData name="G, Kalpana" userId="S::kalpana.b.g@capgemini.com::2ab1bea4-b8f9-4b8a-8748-ead346edb4b0" providerId="AD" clId="Web-{0A5E84AC-C4C2-21E8-BCB1-7FF21A5A13F1}" dt="2025-08-25T05:47:30.515" v="1" actId="1076"/>
      <pc:docMkLst>
        <pc:docMk/>
      </pc:docMkLst>
      <pc:sldChg chg="modSp">
        <pc:chgData name="G, Kalpana" userId="S::kalpana.b.g@capgemini.com::2ab1bea4-b8f9-4b8a-8748-ead346edb4b0" providerId="AD" clId="Web-{0A5E84AC-C4C2-21E8-BCB1-7FF21A5A13F1}" dt="2025-08-25T05:47:30.515" v="1" actId="1076"/>
        <pc:sldMkLst>
          <pc:docMk/>
          <pc:sldMk cId="2909351325" sldId="1055"/>
        </pc:sldMkLst>
        <pc:spChg chg="mod">
          <ac:chgData name="G, Kalpana" userId="S::kalpana.b.g@capgemini.com::2ab1bea4-b8f9-4b8a-8748-ead346edb4b0" providerId="AD" clId="Web-{0A5E84AC-C4C2-21E8-BCB1-7FF21A5A13F1}" dt="2025-08-25T05:47:30.515" v="1" actId="1076"/>
          <ac:spMkLst>
            <pc:docMk/>
            <pc:sldMk cId="2909351325" sldId="1055"/>
            <ac:spMk id="7" creationId="{54AF6E7E-6B18-6ECA-2095-2691CC3E513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90E9DF-74AA-4FBF-8DAD-F8E68F86530A}" type="datetimeFigureOut">
              <a:rPr lang="en-IN" smtClean="0"/>
              <a:t>25-08-2025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725AF2-64E8-4613-8C26-E147104D0E3D}" type="slidenum">
              <a:rPr lang="en-IN" smtClean="0"/>
              <a:t>‹#›</a:t>
            </a:fld>
            <a:endParaRPr lang="en-IN"/>
          </a:p>
        </p:txBody>
      </p:sp>
    </p:spTree>
    <p:extLst>
      <p:ext uri="{BB962C8B-B14F-4D97-AF65-F5344CB8AC3E}">
        <p14:creationId xmlns:p14="http://schemas.microsoft.com/office/powerpoint/2010/main" val="2014726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6E1A5-8FD8-BE7E-D9DB-6AC2064D0F1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13821CF-97CC-9322-3878-5AFF865293F0}"/>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94ADB120-914F-E969-6280-4E1B333DED71}"/>
              </a:ext>
            </a:extLst>
          </p:cNvPr>
          <p:cNvSpPr>
            <a:spLocks noGrp="1"/>
          </p:cNvSpPr>
          <p:nvPr>
            <p:ph type="body" idx="1"/>
          </p:nvPr>
        </p:nvSpPr>
        <p:spPr/>
        <p:txBody>
          <a:bodyPr/>
          <a:lstStyle/>
          <a:p>
            <a:endParaRPr lang="en-US"/>
          </a:p>
        </p:txBody>
      </p:sp>
      <p:sp>
        <p:nvSpPr>
          <p:cNvPr id="4" name="Espace réservé du numéro de diapositive 3">
            <a:extLst>
              <a:ext uri="{FF2B5EF4-FFF2-40B4-BE49-F238E27FC236}">
                <a16:creationId xmlns:a16="http://schemas.microsoft.com/office/drawing/2014/main" id="{92CAE549-6EDF-D210-0E9B-F93F31F7865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154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hyperlink" Target="http://www.twitter.com/capgemini" TargetMode="Externa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hyperlink" Target="http://www.twitter.com/capgemini" TargetMode="External"/></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svg"/><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1">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7" name="Group 6">
            <a:extLst>
              <a:ext uri="{FF2B5EF4-FFF2-40B4-BE49-F238E27FC236}">
                <a16:creationId xmlns:a16="http://schemas.microsoft.com/office/drawing/2014/main" id="{8EDD86A9-A101-4431-BC7F-D7A613B745EB}"/>
              </a:ext>
            </a:extLst>
          </p:cNvPr>
          <p:cNvGrpSpPr>
            <a:grpSpLocks noChangeAspect="1"/>
          </p:cNvGrpSpPr>
          <p:nvPr/>
        </p:nvGrpSpPr>
        <p:grpSpPr>
          <a:xfrm>
            <a:off x="9422540" y="611982"/>
            <a:ext cx="2267015" cy="509586"/>
            <a:chOff x="9550400" y="612775"/>
            <a:chExt cx="2231297" cy="501650"/>
          </a:xfrm>
        </p:grpSpPr>
        <p:sp>
          <p:nvSpPr>
            <p:cNvPr id="8" name="Freeform: Shape 7">
              <a:extLst>
                <a:ext uri="{FF2B5EF4-FFF2-40B4-BE49-F238E27FC236}">
                  <a16:creationId xmlns:a16="http://schemas.microsoft.com/office/drawing/2014/main" id="{92E5232F-44F9-4DA7-8CAF-37E7E772B19E}"/>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ED6443D4-9252-4F48-B3B1-DE1F07A5D421}"/>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00D6E549-1EDB-4087-A87E-246AD0B86307}"/>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9B59D2B6-7CA0-4DD1-ACF9-FE9B371E6A4B}"/>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D752C13A-0707-4DB7-BEE5-11C70CC4104C}"/>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408075086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6" name="Group 5">
            <a:extLst>
              <a:ext uri="{FF2B5EF4-FFF2-40B4-BE49-F238E27FC236}">
                <a16:creationId xmlns:a16="http://schemas.microsoft.com/office/drawing/2014/main" id="{138C36DE-BE7C-4EA8-8C11-63DF35071C75}"/>
              </a:ext>
            </a:extLst>
          </p:cNvPr>
          <p:cNvGrpSpPr>
            <a:grpSpLocks noChangeAspect="1"/>
          </p:cNvGrpSpPr>
          <p:nvPr/>
        </p:nvGrpSpPr>
        <p:grpSpPr>
          <a:xfrm>
            <a:off x="476900" y="611982"/>
            <a:ext cx="2267015" cy="509586"/>
            <a:chOff x="9550400" y="612775"/>
            <a:chExt cx="2231297" cy="501650"/>
          </a:xfrm>
        </p:grpSpPr>
        <p:sp>
          <p:nvSpPr>
            <p:cNvPr id="8" name="Freeform: Shape 7">
              <a:extLst>
                <a:ext uri="{FF2B5EF4-FFF2-40B4-BE49-F238E27FC236}">
                  <a16:creationId xmlns:a16="http://schemas.microsoft.com/office/drawing/2014/main" id="{F832A913-EBD0-4A52-9BC5-C515E20AA2D2}"/>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6C7C00F4-BABA-40DB-9C59-16A7B33536DE}"/>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06629252-ADFC-4FC9-85E5-6800A45F303B}"/>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9DB5264D-26DE-4A16-881C-0B8EE6975DF9}"/>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1478FE54-3447-4979-8CE3-A274C8BD5A44}"/>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05437783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678123"/>
            <a:ext cx="11386134" cy="830997"/>
          </a:xfrm>
        </p:spPr>
        <p:txBody>
          <a:bodyPr wrap="square" lIns="36000" rIns="36000" bIns="0" anchor="b" anchorCtr="0">
            <a:spAutoFit/>
          </a:bodyPr>
          <a:lstStyle>
            <a:lvl1pPr algn="l">
              <a:lnSpc>
                <a:spcPct val="90000"/>
              </a:lnSpc>
              <a:defRPr sz="6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7" name="Group 6">
            <a:extLst>
              <a:ext uri="{FF2B5EF4-FFF2-40B4-BE49-F238E27FC236}">
                <a16:creationId xmlns:a16="http://schemas.microsoft.com/office/drawing/2014/main" id="{0240C396-6AE9-4D76-A223-20E91B036600}"/>
              </a:ext>
            </a:extLst>
          </p:cNvPr>
          <p:cNvGrpSpPr>
            <a:grpSpLocks noChangeAspect="1"/>
          </p:cNvGrpSpPr>
          <p:nvPr/>
        </p:nvGrpSpPr>
        <p:grpSpPr>
          <a:xfrm>
            <a:off x="9422540" y="611982"/>
            <a:ext cx="2267015" cy="509586"/>
            <a:chOff x="9550400" y="612775"/>
            <a:chExt cx="2231297" cy="501650"/>
          </a:xfrm>
        </p:grpSpPr>
        <p:sp>
          <p:nvSpPr>
            <p:cNvPr id="8" name="Freeform: Shape 7">
              <a:extLst>
                <a:ext uri="{FF2B5EF4-FFF2-40B4-BE49-F238E27FC236}">
                  <a16:creationId xmlns:a16="http://schemas.microsoft.com/office/drawing/2014/main" id="{FC704551-0A43-448B-9BC4-076647B2D2FA}"/>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57D7C248-3780-4A7C-95A8-D356BF27AD73}"/>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217CBF3A-5C0A-4C4E-9FD3-E028E791FE81}"/>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0CD80AA6-A949-4FC4-8CD0-6E6D7300DF2C}"/>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E8743398-464F-49A4-8D54-C73C461670F9}"/>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180044323"/>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p:nvSpPr>
        <p:spPr>
          <a:xfrm>
            <a:off x="-1"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n-US"/>
              <a:t>Click to edit Master title style</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71316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en-US"/>
              <a:t>Click to edit Master title style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en-US"/>
              <a:t>Click icon to add picture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2798309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21631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64727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2852751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79954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3 columns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0823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3 columns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13" name="Rectangle 12">
            <a:extLst>
              <a:ext uri="{FF2B5EF4-FFF2-40B4-BE49-F238E27FC236}">
                <a16:creationId xmlns:a16="http://schemas.microsoft.com/office/drawing/2014/main" id="{7B9A63D1-B6C5-4F10-ABD1-7445EB2D8ADC}"/>
              </a:ext>
            </a:extLst>
          </p:cNvPr>
          <p:cNvSpPr/>
          <p:nvPr/>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A69DEBB0-4052-42E9-B8A1-20FEA957F747}"/>
              </a:ext>
            </a:extLst>
          </p:cNvPr>
          <p:cNvSpPr/>
          <p:nvPr/>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336B7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336B7D"/>
              </a:buClr>
              <a:defRPr sz="1400"/>
            </a:lvl2pPr>
            <a:lvl3pPr>
              <a:lnSpc>
                <a:spcPct val="100000"/>
              </a:lnSpc>
              <a:spcBef>
                <a:spcPts val="0"/>
              </a:spcBef>
              <a:buClr>
                <a:srgbClr val="336B7D"/>
              </a:buClr>
              <a:defRPr sz="1400"/>
            </a:lvl3pPr>
            <a:lvl4pPr>
              <a:lnSpc>
                <a:spcPct val="100000"/>
              </a:lnSpc>
              <a:spcBef>
                <a:spcPts val="0"/>
              </a:spcBef>
              <a:buClr>
                <a:srgbClr val="336B7D"/>
              </a:buClr>
              <a:defRPr sz="1400"/>
            </a:lvl4pPr>
            <a:lvl5pPr>
              <a:lnSpc>
                <a:spcPct val="100000"/>
              </a:lnSpc>
              <a:spcBef>
                <a:spcPts val="0"/>
              </a:spcBef>
              <a:buClr>
                <a:srgbClr val="336B7D"/>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270917E2-630D-4941-BA4B-7EB65D4A7850}"/>
              </a:ext>
            </a:extLst>
          </p:cNvPr>
          <p:cNvSpPr/>
          <p:nvPr/>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73259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lstStyle/>
          <a:p>
            <a:r>
              <a:rPr lang="en-US"/>
              <a:t>Click to edit Master title style</a:t>
            </a:r>
            <a:endParaRPr lang="de-DE"/>
          </a:p>
        </p:txBody>
      </p:sp>
    </p:spTree>
    <p:extLst>
      <p:ext uri="{BB962C8B-B14F-4D97-AF65-F5344CB8AC3E}">
        <p14:creationId xmlns:p14="http://schemas.microsoft.com/office/powerpoint/2010/main" val="27157776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3073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 light Grey">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1974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Break dark">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472445134"/>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RH image 2">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4" y="1161430"/>
            <a:ext cx="6627290" cy="1115442"/>
          </a:xfrm>
        </p:spPr>
        <p:txBody>
          <a:bodyPr vert="horz" lIns="0" tIns="0" rIns="0" bIns="0" rtlCol="0" anchor="b">
            <a:noAutofit/>
          </a:bodyPr>
          <a:lstStyle>
            <a:lvl1pPr>
              <a:defRPr lang="en-GB" sz="3600">
                <a:solidFill>
                  <a:schemeClr val="tx1"/>
                </a:solidFill>
              </a:defRPr>
            </a:lvl1pPr>
          </a:lstStyle>
          <a:p>
            <a:pPr lvl="0"/>
            <a:r>
              <a:rPr lang="en-US" noProof="0"/>
              <a:t>Click to edit Master title style</a:t>
            </a:r>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404813" y="2492374"/>
            <a:ext cx="6627290" cy="273682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Picture Placeholder 13">
            <a:extLst>
              <a:ext uri="{FF2B5EF4-FFF2-40B4-BE49-F238E27FC236}">
                <a16:creationId xmlns:a16="http://schemas.microsoft.com/office/drawing/2014/main" id="{5C94FEA8-066A-4CC1-BFCC-10ED1764A21E}"/>
              </a:ext>
              <a:ext uri="{C183D7F6-B498-43B3-948B-1728B52AA6E4}">
                <adec:decorative xmlns:adec="http://schemas.microsoft.com/office/drawing/2017/decorative" val="1"/>
              </a:ext>
            </a:extLst>
          </p:cNvPr>
          <p:cNvSpPr>
            <a:spLocks noGrp="1"/>
          </p:cNvSpPr>
          <p:nvPr>
            <p:ph type="pic" sz="quarter" idx="10" hasCustomPrompt="1"/>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noProof="0"/>
              <a:t>Click icon to add picture with alt text</a:t>
            </a:r>
          </a:p>
        </p:txBody>
      </p:sp>
    </p:spTree>
    <p:extLst>
      <p:ext uri="{BB962C8B-B14F-4D97-AF65-F5344CB8AC3E}">
        <p14:creationId xmlns:p14="http://schemas.microsoft.com/office/powerpoint/2010/main" val="36183450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5586E72C-F96D-4BE1-996B-39A71EA977D3}"/>
              </a:ext>
              <a:ext uri="{C183D7F6-B498-43B3-948B-1728B52AA6E4}">
                <adec:decorative xmlns:adec="http://schemas.microsoft.com/office/drawing/2017/decorative" val="1"/>
              </a:ext>
            </a:extLst>
          </p:cNvPr>
          <p:cNvSpPr>
            <a:spLocks noGrp="1"/>
          </p:cNvSpPr>
          <p:nvPr>
            <p:ph type="pic" sz="quarter" idx="10" hasCustomPrompt="1"/>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 with alt text</a:t>
            </a:r>
            <a:endParaRPr lang="en-GB"/>
          </a:p>
        </p:txBody>
      </p:sp>
    </p:spTree>
    <p:extLst>
      <p:ext uri="{BB962C8B-B14F-4D97-AF65-F5344CB8AC3E}">
        <p14:creationId xmlns:p14="http://schemas.microsoft.com/office/powerpoint/2010/main" val="4326878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21792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1"/>
                </a:solidFill>
              </a:defRPr>
            </a:lvl1pPr>
          </a:lstStyle>
          <a:p>
            <a:r>
              <a:rPr lang="de-DE"/>
              <a:t>Insert picture, edit alt text and send </a:t>
            </a:r>
            <a:r>
              <a:rPr lang="de-DE" err="1"/>
              <a:t>to</a:t>
            </a:r>
            <a:r>
              <a:rPr lang="de-DE"/>
              <a:t> back</a:t>
            </a:r>
          </a:p>
        </p:txBody>
      </p:sp>
    </p:spTree>
    <p:extLst>
      <p:ext uri="{BB962C8B-B14F-4D97-AF65-F5344CB8AC3E}">
        <p14:creationId xmlns:p14="http://schemas.microsoft.com/office/powerpoint/2010/main" val="25380078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add alt text and send </a:t>
            </a:r>
            <a:r>
              <a:rPr lang="de-DE" err="1"/>
              <a:t>to</a:t>
            </a:r>
            <a:r>
              <a:rPr lang="de-DE"/>
              <a:t> back</a:t>
            </a:r>
          </a:p>
        </p:txBody>
      </p:sp>
    </p:spTree>
    <p:extLst>
      <p:ext uri="{BB962C8B-B14F-4D97-AF65-F5344CB8AC3E}">
        <p14:creationId xmlns:p14="http://schemas.microsoft.com/office/powerpoint/2010/main" val="10022524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4958425"/>
            <a:ext cx="11277600" cy="822325"/>
          </a:xfrm>
        </p:spPr>
        <p:txBody>
          <a:bodyPr lIns="36000" tIns="144000">
            <a:normAutofit/>
          </a:bodyPr>
          <a:lstStyle>
            <a:lvl1pPr marL="0" indent="0" algn="l">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57200" y="2135545"/>
            <a:ext cx="11277600" cy="2585323"/>
          </a:xfrm>
        </p:spPr>
        <p:txBody>
          <a:bodyPr anchor="ctr" anchorCtr="0">
            <a:spAutoFit/>
          </a:bodyPr>
          <a:lstStyle>
            <a:lvl1pPr marL="0" indent="0" algn="l">
              <a:lnSpc>
                <a:spcPct val="70000"/>
              </a:lnSpc>
              <a:spcAft>
                <a:spcPts val="0"/>
              </a:spcAft>
              <a:buFontTx/>
              <a:buNone/>
              <a:defRPr sz="8000" b="1" cap="all"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grpSp>
        <p:nvGrpSpPr>
          <p:cNvPr id="6" name="Group 5">
            <a:extLst>
              <a:ext uri="{FF2B5EF4-FFF2-40B4-BE49-F238E27FC236}">
                <a16:creationId xmlns:a16="http://schemas.microsoft.com/office/drawing/2014/main" id="{53E1ECB5-DB51-4283-B8B9-FBB99B30DDDA}"/>
              </a:ext>
            </a:extLst>
          </p:cNvPr>
          <p:cNvGrpSpPr>
            <a:grpSpLocks noChangeAspect="1"/>
          </p:cNvGrpSpPr>
          <p:nvPr/>
        </p:nvGrpSpPr>
        <p:grpSpPr>
          <a:xfrm>
            <a:off x="516023" y="622911"/>
            <a:ext cx="2231297" cy="501650"/>
            <a:chOff x="9550400" y="612775"/>
            <a:chExt cx="2231297" cy="501650"/>
          </a:xfrm>
        </p:grpSpPr>
        <p:sp>
          <p:nvSpPr>
            <p:cNvPr id="8" name="Freeform: Shape 7">
              <a:extLst>
                <a:ext uri="{FF2B5EF4-FFF2-40B4-BE49-F238E27FC236}">
                  <a16:creationId xmlns:a16="http://schemas.microsoft.com/office/drawing/2014/main" id="{648307B4-0823-4CCD-9A0B-FC8313B6A1CE}"/>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0EF37526-68C2-4CC7-BFA8-D9A1ECDD5F86}"/>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031D688A-C2B9-40DF-8BDB-7397CB9DF4C1}"/>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808CDC8B-4E52-45D7-922E-07333CE529A6}"/>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8515A298-0196-4231-B123-8DDB35B79DA6}"/>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2025039110"/>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rot="1808368" flipV="1">
            <a:off x="4403152" y="337083"/>
            <a:ext cx="8831279" cy="4103533"/>
          </a:xfrm>
          <a:prstGeom prst="rect">
            <a:avLst/>
          </a:prstGeom>
        </p:spPr>
      </p:pic>
      <p:pic>
        <p:nvPicPr>
          <p:cNvPr id="21" name="Picture 7" descr="facebook">
            <a:hlinkClick r:id="rId3"/>
          </p:cNvPr>
          <p:cNvPicPr>
            <a:picLocks noChangeAspect="1" noChangeArrowheads="1"/>
          </p:cNvPicPr>
          <p:nvPr/>
        </p:nvPicPr>
        <p:blipFill>
          <a:blip r:embed="rId4" cstate="print"/>
          <a:srcRect/>
          <a:stretch>
            <a:fillRect/>
          </a:stretch>
        </p:blipFill>
        <p:spPr bwMode="auto">
          <a:xfrm>
            <a:off x="426720" y="4968013"/>
            <a:ext cx="333195" cy="333195"/>
          </a:xfrm>
          <a:prstGeom prst="rect">
            <a:avLst/>
          </a:prstGeom>
          <a:noFill/>
        </p:spPr>
      </p:pic>
      <p:pic>
        <p:nvPicPr>
          <p:cNvPr id="17" name="Picture 2" descr="LinkedIn">
            <a:hlinkClick r:id="rId5"/>
          </p:cNvPr>
          <p:cNvPicPr>
            <a:picLocks noChangeAspect="1" noChangeArrowheads="1"/>
          </p:cNvPicPr>
          <p:nvPr/>
        </p:nvPicPr>
        <p:blipFill>
          <a:blip r:embed="rId6" cstate="print"/>
          <a:srcRect/>
          <a:stretch>
            <a:fillRect/>
          </a:stretch>
        </p:blipFill>
        <p:spPr bwMode="auto">
          <a:xfrm>
            <a:off x="810097" y="4968013"/>
            <a:ext cx="333195" cy="333195"/>
          </a:xfrm>
          <a:prstGeom prst="rect">
            <a:avLst/>
          </a:prstGeom>
          <a:noFill/>
        </p:spPr>
      </p:pic>
      <p:pic>
        <p:nvPicPr>
          <p:cNvPr id="18" name="Picture 4" descr="SlideShare">
            <a:hlinkClick r:id="rId7"/>
          </p:cNvPr>
          <p:cNvPicPr>
            <a:picLocks noChangeAspect="1" noChangeArrowheads="1"/>
          </p:cNvPicPr>
          <p:nvPr/>
        </p:nvPicPr>
        <p:blipFill>
          <a:blip r:embed="rId8" cstate="print"/>
          <a:srcRect/>
          <a:stretch>
            <a:fillRect/>
          </a:stretch>
        </p:blipFill>
        <p:spPr bwMode="auto">
          <a:xfrm>
            <a:off x="1193474" y="4968013"/>
            <a:ext cx="333195" cy="333195"/>
          </a:xfrm>
          <a:prstGeom prst="rect">
            <a:avLst/>
          </a:prstGeom>
          <a:noFill/>
        </p:spPr>
      </p:pic>
      <p:pic>
        <p:nvPicPr>
          <p:cNvPr id="19" name="Picture 5" descr="Twitter">
            <a:hlinkClick r:id="rId9"/>
          </p:cNvPr>
          <p:cNvPicPr>
            <a:picLocks noChangeAspect="1" noChangeArrowheads="1"/>
          </p:cNvPicPr>
          <p:nvPr/>
        </p:nvPicPr>
        <p:blipFill>
          <a:blip r:embed="rId10" cstate="print"/>
          <a:srcRect/>
          <a:stretch>
            <a:fillRect/>
          </a:stretch>
        </p:blipFill>
        <p:spPr bwMode="auto">
          <a:xfrm>
            <a:off x="1576851" y="4968013"/>
            <a:ext cx="333195" cy="333195"/>
          </a:xfrm>
          <a:prstGeom prst="rect">
            <a:avLst/>
          </a:prstGeom>
          <a:noFill/>
        </p:spPr>
      </p:pic>
      <p:pic>
        <p:nvPicPr>
          <p:cNvPr id="20" name="Picture 6" descr="YouTube">
            <a:hlinkClick r:id="rId11"/>
          </p:cNvPr>
          <p:cNvPicPr>
            <a:picLocks noChangeAspect="1" noChangeArrowheads="1"/>
          </p:cNvPicPr>
          <p:nvPr/>
        </p:nvPicPr>
        <p:blipFill>
          <a:blip r:embed="rId12" cstate="print"/>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grpSp>
        <p:nvGrpSpPr>
          <p:cNvPr id="10" name="Group 9">
            <a:extLst>
              <a:ext uri="{FF2B5EF4-FFF2-40B4-BE49-F238E27FC236}">
                <a16:creationId xmlns:a16="http://schemas.microsoft.com/office/drawing/2014/main" id="{D2BF7E9C-FD5C-450A-A1FB-17FC5765ED64}"/>
              </a:ext>
            </a:extLst>
          </p:cNvPr>
          <p:cNvGrpSpPr>
            <a:grpSpLocks noChangeAspect="1"/>
          </p:cNvGrpSpPr>
          <p:nvPr/>
        </p:nvGrpSpPr>
        <p:grpSpPr>
          <a:xfrm>
            <a:off x="411020" y="984393"/>
            <a:ext cx="2231297" cy="501650"/>
            <a:chOff x="9550400" y="612775"/>
            <a:chExt cx="2231297" cy="501650"/>
          </a:xfrm>
        </p:grpSpPr>
        <p:sp>
          <p:nvSpPr>
            <p:cNvPr id="11" name="Freeform: Shape 10">
              <a:extLst>
                <a:ext uri="{FF2B5EF4-FFF2-40B4-BE49-F238E27FC236}">
                  <a16:creationId xmlns:a16="http://schemas.microsoft.com/office/drawing/2014/main" id="{DD26A2F9-4026-4DA7-B00A-AE48A8B0CD4D}"/>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0DCE7524-34A1-429B-91AD-74BE1F944E06}"/>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0F68A571-28DB-453F-861D-36D50723ED4D}"/>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923DB0AA-5015-4FEA-A32D-44257CF2BED3}"/>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3E8CD59B-E3D8-4E45-86AA-3D0BB06038CE}"/>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180825945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blank" preserve="1">
  <p:cSld name="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 uri="{C183D7F6-B498-43B3-948B-1728B52AA6E4}">
                <adec:decorative xmlns:adec="http://schemas.microsoft.com/office/drawing/2017/decorative" val="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32214" y="1295400"/>
            <a:ext cx="9702386" cy="6043284"/>
          </a:xfrm>
          <a:prstGeom prst="rect">
            <a:avLst/>
          </a:prstGeom>
        </p:spPr>
      </p:pic>
      <p:pic>
        <p:nvPicPr>
          <p:cNvPr id="22" name="Picture 7" descr="facebook">
            <a:hlinkClick r:id="rId3"/>
            <a:extLst>
              <a:ext uri="{FF2B5EF4-FFF2-40B4-BE49-F238E27FC236}">
                <a16:creationId xmlns:a16="http://schemas.microsoft.com/office/drawing/2014/main" id="{BCC76D32-C587-45AA-A26C-ED5B038C867B}"/>
              </a:ext>
            </a:extLst>
          </p:cNvPr>
          <p:cNvPicPr>
            <a:picLocks noChangeAspect="1" noChangeArrowheads="1"/>
          </p:cNvPicPr>
          <p:nvPr/>
        </p:nvPicPr>
        <p:blipFill>
          <a:blip r:embed="rId4" cstate="print"/>
          <a:srcRect/>
          <a:stretch>
            <a:fillRect/>
          </a:stretch>
        </p:blipFill>
        <p:spPr bwMode="auto">
          <a:xfrm>
            <a:off x="426720" y="5328053"/>
            <a:ext cx="333195" cy="333195"/>
          </a:xfrm>
          <a:prstGeom prst="rect">
            <a:avLst/>
          </a:prstGeom>
          <a:noFill/>
        </p:spPr>
      </p:pic>
      <p:pic>
        <p:nvPicPr>
          <p:cNvPr id="17" name="Picture 2" descr="LinkedIn">
            <a:hlinkClick r:id="rId5"/>
            <a:extLst>
              <a:ext uri="{FF2B5EF4-FFF2-40B4-BE49-F238E27FC236}">
                <a16:creationId xmlns:a16="http://schemas.microsoft.com/office/drawing/2014/main" id="{F6DF1D6E-8462-43E1-AFC5-8A5C855024F4}"/>
              </a:ext>
            </a:extLst>
          </p:cNvPr>
          <p:cNvPicPr>
            <a:picLocks noChangeAspect="1" noChangeArrowheads="1"/>
          </p:cNvPicPr>
          <p:nvPr/>
        </p:nvPicPr>
        <p:blipFill>
          <a:blip r:embed="rId6" cstate="print"/>
          <a:srcRect/>
          <a:stretch>
            <a:fillRect/>
          </a:stretch>
        </p:blipFill>
        <p:spPr bwMode="auto">
          <a:xfrm>
            <a:off x="810097" y="5328053"/>
            <a:ext cx="333195" cy="333195"/>
          </a:xfrm>
          <a:prstGeom prst="rect">
            <a:avLst/>
          </a:prstGeom>
          <a:noFill/>
        </p:spPr>
      </p:pic>
      <p:pic>
        <p:nvPicPr>
          <p:cNvPr id="19" name="Picture 4" descr="SlideShare">
            <a:hlinkClick r:id="rId7"/>
            <a:extLst>
              <a:ext uri="{FF2B5EF4-FFF2-40B4-BE49-F238E27FC236}">
                <a16:creationId xmlns:a16="http://schemas.microsoft.com/office/drawing/2014/main" id="{DA74C6D2-FFE3-4CE8-B52D-0A33097AEEAF}"/>
              </a:ext>
            </a:extLst>
          </p:cNvPr>
          <p:cNvPicPr>
            <a:picLocks noChangeAspect="1" noChangeArrowheads="1"/>
          </p:cNvPicPr>
          <p:nvPr/>
        </p:nvPicPr>
        <p:blipFill>
          <a:blip r:embed="rId8" cstate="print"/>
          <a:srcRect/>
          <a:stretch>
            <a:fillRect/>
          </a:stretch>
        </p:blipFill>
        <p:spPr bwMode="auto">
          <a:xfrm>
            <a:off x="1193474" y="5328053"/>
            <a:ext cx="333195" cy="333195"/>
          </a:xfrm>
          <a:prstGeom prst="rect">
            <a:avLst/>
          </a:prstGeom>
          <a:noFill/>
        </p:spPr>
      </p:pic>
      <p:pic>
        <p:nvPicPr>
          <p:cNvPr id="20" name="Picture 5" descr="Twitter">
            <a:hlinkClick r:id="rId9"/>
            <a:extLst>
              <a:ext uri="{FF2B5EF4-FFF2-40B4-BE49-F238E27FC236}">
                <a16:creationId xmlns:a16="http://schemas.microsoft.com/office/drawing/2014/main" id="{14E10122-92A2-4535-9737-8C1BE0EE0AEC}"/>
              </a:ext>
            </a:extLst>
          </p:cNvPr>
          <p:cNvPicPr>
            <a:picLocks noChangeAspect="1" noChangeArrowheads="1"/>
          </p:cNvPicPr>
          <p:nvPr/>
        </p:nvPicPr>
        <p:blipFill>
          <a:blip r:embed="rId10" cstate="print"/>
          <a:srcRect/>
          <a:stretch>
            <a:fillRect/>
          </a:stretch>
        </p:blipFill>
        <p:spPr bwMode="auto">
          <a:xfrm>
            <a:off x="1576851" y="5328053"/>
            <a:ext cx="333195" cy="333195"/>
          </a:xfrm>
          <a:prstGeom prst="rect">
            <a:avLst/>
          </a:prstGeom>
          <a:noFill/>
        </p:spPr>
      </p:pic>
      <p:pic>
        <p:nvPicPr>
          <p:cNvPr id="21" name="Picture 6" descr="YouTube">
            <a:hlinkClick r:id="rId11"/>
            <a:extLst>
              <a:ext uri="{FF2B5EF4-FFF2-40B4-BE49-F238E27FC236}">
                <a16:creationId xmlns:a16="http://schemas.microsoft.com/office/drawing/2014/main" id="{BA6EF96A-02CA-41A1-9095-358FE7486671}"/>
              </a:ext>
            </a:extLst>
          </p:cNvPr>
          <p:cNvPicPr>
            <a:picLocks noChangeAspect="1" noChangeArrowheads="1"/>
          </p:cNvPicPr>
          <p:nvPr/>
        </p:nvPicPr>
        <p:blipFill>
          <a:blip r:embed="rId12" cstate="print"/>
          <a:srcRect/>
          <a:stretch>
            <a:fillRect/>
          </a:stretch>
        </p:blipFill>
        <p:spPr bwMode="auto">
          <a:xfrm>
            <a:off x="1960227" y="5328053"/>
            <a:ext cx="333195" cy="333195"/>
          </a:xfrm>
          <a:prstGeom prst="rect">
            <a:avLst/>
          </a:prstGeom>
          <a:noFill/>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2023 Capgemini. All rights reserved.</a:t>
            </a:r>
          </a:p>
        </p:txBody>
      </p:sp>
      <p:grpSp>
        <p:nvGrpSpPr>
          <p:cNvPr id="10" name="Group 9">
            <a:extLst>
              <a:ext uri="{FF2B5EF4-FFF2-40B4-BE49-F238E27FC236}">
                <a16:creationId xmlns:a16="http://schemas.microsoft.com/office/drawing/2014/main" id="{665BE2A4-4ACC-4E54-9A85-77DFC7F65F01}"/>
              </a:ext>
            </a:extLst>
          </p:cNvPr>
          <p:cNvGrpSpPr>
            <a:grpSpLocks noChangeAspect="1"/>
          </p:cNvGrpSpPr>
          <p:nvPr/>
        </p:nvGrpSpPr>
        <p:grpSpPr>
          <a:xfrm>
            <a:off x="9161718" y="5747778"/>
            <a:ext cx="2231297" cy="501650"/>
            <a:chOff x="9550400" y="612775"/>
            <a:chExt cx="2231297" cy="501650"/>
          </a:xfrm>
        </p:grpSpPr>
        <p:sp>
          <p:nvSpPr>
            <p:cNvPr id="11" name="Freeform: Shape 10">
              <a:extLst>
                <a:ext uri="{FF2B5EF4-FFF2-40B4-BE49-F238E27FC236}">
                  <a16:creationId xmlns:a16="http://schemas.microsoft.com/office/drawing/2014/main" id="{0CE61B69-C06F-4D0A-9437-BC399186700C}"/>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96F08509-FA85-4193-A497-0E692E886745}"/>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A40793F6-8550-4F9A-98A1-4BD1C63DE3E6}"/>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AF68DDBF-3EE2-4BFD-9E41-A500A2DB8E18}"/>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F22E4E1F-DFDD-4EF6-8781-D2EC7D60F89D}"/>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6945366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Section A – Narrow">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FFE52CB-A5C1-42B8-B226-A7E99CA7F92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bwMode="ltGray">
          <a:xfrm>
            <a:off x="0" y="3487"/>
            <a:ext cx="12192000" cy="6851026"/>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p:nvSpPr>
        <p:spPr bwMode="white">
          <a:xfrm>
            <a:off x="2679031" y="-1"/>
            <a:ext cx="4562277" cy="6858001"/>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sp>
        <p:nvSpPr>
          <p:cNvPr id="10" name="Rectangle 9">
            <a:extLst>
              <a:ext uri="{FF2B5EF4-FFF2-40B4-BE49-F238E27FC236}">
                <a16:creationId xmlns:a16="http://schemas.microsoft.com/office/drawing/2014/main" id="{56251255-086B-E94A-78CB-ABEF43782D2F}"/>
              </a:ext>
            </a:extLst>
          </p:cNvPr>
          <p:cNvSpPr/>
          <p:nvPr/>
        </p:nvSpPr>
        <p:spPr bwMode="white">
          <a:xfrm>
            <a:off x="7241308" y="-1"/>
            <a:ext cx="4950692" cy="6858001"/>
          </a:xfrm>
          <a:prstGeom prst="rect">
            <a:avLst/>
          </a:prstGeom>
          <a:solidFill>
            <a:schemeClr val="tx2">
              <a:alpha val="3219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grpSp>
        <p:nvGrpSpPr>
          <p:cNvPr id="2" name="Group 1">
            <a:extLst>
              <a:ext uri="{FF2B5EF4-FFF2-40B4-BE49-F238E27FC236}">
                <a16:creationId xmlns:a16="http://schemas.microsoft.com/office/drawing/2014/main" id="{C67C897C-1F62-BB59-C891-68E2E6F70E4F}"/>
              </a:ext>
            </a:extLst>
          </p:cNvPr>
          <p:cNvGrpSpPr/>
          <p:nvPr/>
        </p:nvGrpSpPr>
        <p:grpSpPr>
          <a:xfrm>
            <a:off x="10920536" y="116632"/>
            <a:ext cx="1101676" cy="392613"/>
            <a:chOff x="10554564" y="188640"/>
            <a:chExt cx="1414386" cy="504056"/>
          </a:xfrm>
        </p:grpSpPr>
        <p:pic>
          <p:nvPicPr>
            <p:cNvPr id="4" name="Graphic 19">
              <a:extLst>
                <a:ext uri="{FF2B5EF4-FFF2-40B4-BE49-F238E27FC236}">
                  <a16:creationId xmlns:a16="http://schemas.microsoft.com/office/drawing/2014/main" id="{4951BCFA-B160-3DA0-D0C1-D1428AD0C76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49514" y="224577"/>
              <a:ext cx="419436" cy="387047"/>
            </a:xfrm>
            <a:prstGeom prst="rect">
              <a:avLst/>
            </a:prstGeom>
          </p:spPr>
        </p:pic>
        <p:pic>
          <p:nvPicPr>
            <p:cNvPr id="5" name="Picture 4" descr="Shape, arrow&#10;&#10;Description automatically generated">
              <a:extLst>
                <a:ext uri="{FF2B5EF4-FFF2-40B4-BE49-F238E27FC236}">
                  <a16:creationId xmlns:a16="http://schemas.microsoft.com/office/drawing/2014/main" id="{606E6ED2-A7CE-F100-6315-31264F3BCDCA}"/>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10554564" y="273807"/>
              <a:ext cx="647356" cy="307446"/>
            </a:xfrm>
            <a:prstGeom prst="rect">
              <a:avLst/>
            </a:prstGeom>
          </p:spPr>
        </p:pic>
        <p:cxnSp>
          <p:nvCxnSpPr>
            <p:cNvPr id="12" name="Straight Connector 11">
              <a:extLst>
                <a:ext uri="{FF2B5EF4-FFF2-40B4-BE49-F238E27FC236}">
                  <a16:creationId xmlns:a16="http://schemas.microsoft.com/office/drawing/2014/main" id="{E024E345-E2B0-6FC9-8DB3-8FF00E287AE7}"/>
                </a:ext>
              </a:extLst>
            </p:cNvPr>
            <p:cNvCxnSpPr/>
            <p:nvPr/>
          </p:nvCxnSpPr>
          <p:spPr>
            <a:xfrm>
              <a:off x="11352584" y="188640"/>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9881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150"/>
                                        <p:tgtEl>
                                          <p:spTgt spid="7"/>
                                        </p:tgtEl>
                                      </p:cBhvr>
                                    </p:animEffect>
                                  </p:childTnLst>
                                </p:cTn>
                              </p:par>
                              <p:par>
                                <p:cTn id="8" presetID="6" presetClass="emph" presetSubtype="0" fill="hold" nodeType="withEffect">
                                  <p:stCondLst>
                                    <p:cond delay="0"/>
                                  </p:stCondLst>
                                  <p:childTnLst>
                                    <p:animScale>
                                      <p:cBhvr>
                                        <p:cTn id="9" dur="150" fill="hold"/>
                                        <p:tgtEl>
                                          <p:spTgt spid="7"/>
                                        </p:tgtEl>
                                      </p:cBhvr>
                                      <p:by x="110000" y="110000"/>
                                    </p:animScale>
                                  </p:childTnLst>
                                </p:cTn>
                              </p:par>
                              <p:par>
                                <p:cTn id="10" presetID="6" presetClass="emph" presetSubtype="0" decel="100000" fill="hold" nodeType="withEffect">
                                  <p:stCondLst>
                                    <p:cond delay="200"/>
                                  </p:stCondLst>
                                  <p:childTnLst>
                                    <p:animScale>
                                      <p:cBhvr>
                                        <p:cTn id="11" dur="3450" fill="hold"/>
                                        <p:tgtEl>
                                          <p:spTgt spid="7"/>
                                        </p:tgtEl>
                                      </p:cBhvr>
                                      <p:by x="90990" y="90990"/>
                                    </p:animScale>
                                  </p:childTnLst>
                                </p:cTn>
                              </p:par>
                              <p:par>
                                <p:cTn id="12" presetID="10" presetClass="entr" presetSubtype="0" fill="hold" grpId="0" nodeType="withEffect">
                                  <p:stCondLst>
                                    <p:cond delay="13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par>
                                <p:cTn id="15" presetID="10" presetClass="entr" presetSubtype="0" fill="hold" grpId="0" nodeType="withEffect">
                                  <p:stCondLst>
                                    <p:cond delay="1750"/>
                                  </p:stCondLst>
                                  <p:iterate type="wd">
                                    <p:tmPct val="16667"/>
                                  </p:iterate>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9" dur="500" fill="hold"/>
                                        <p:tgtEl>
                                          <p:spTgt spid="14"/>
                                        </p:tgtEl>
                                        <p:attrNameLst>
                                          <p:attrName>ppt_x</p:attrName>
                                          <p:attrName>ppt_y</p:attrName>
                                        </p:attrNameLst>
                                      </p:cBhvr>
                                      <p:rCtr x="0" y="-1319"/>
                                    </p:animMotion>
                                  </p:childTnLst>
                                </p:cTn>
                              </p:par>
                              <p:par>
                                <p:cTn id="20" presetID="10" presetClass="entr" presetSubtype="0" fill="hold" grpId="1" nodeType="withEffect">
                                  <p:stCondLst>
                                    <p:cond delay="125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63" presetClass="path" presetSubtype="0" decel="100000" fill="hold" grpId="0" nodeType="withEffect">
                                  <p:stCondLst>
                                    <p:cond delay="1250"/>
                                  </p:stCondLst>
                                  <p:childTnLst>
                                    <p:animMotion origin="layout" path="M -0.05937 0 L -8.33333E-7 0 " pathEditMode="relative" rAng="0" ptsTypes="AA">
                                      <p:cBhvr>
                                        <p:cTn id="24" dur="1100" fill="hold"/>
                                        <p:tgtEl>
                                          <p:spTgt spid="20"/>
                                        </p:tgtEl>
                                        <p:attrNameLst>
                                          <p:attrName>ppt_x</p:attrName>
                                          <p:attrName>ppt_y</p:attrName>
                                        </p:attrNameLst>
                                      </p:cBhvr>
                                      <p:rCtr x="2969" y="0"/>
                                    </p:animMotion>
                                  </p:childTnLst>
                                </p:cTn>
                              </p:par>
                              <p:par>
                                <p:cTn id="25" presetID="22" presetClass="entr" presetSubtype="4" fill="hold" nodeType="withEffect">
                                  <p:stCondLst>
                                    <p:cond delay="20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2200"/>
                                        <p:tgtEl>
                                          <p:spTgt spid="9"/>
                                        </p:tgtEl>
                                      </p:cBhvr>
                                    </p:animEffect>
                                  </p:childTnLst>
                                </p:cTn>
                              </p:par>
                              <p:par>
                                <p:cTn id="28" presetID="22" presetClass="entr" presetSubtype="2" fill="hold" nodeType="withEffect">
                                  <p:stCondLst>
                                    <p:cond delay="2100"/>
                                  </p:stCondLst>
                                  <p:childTnLst>
                                    <p:set>
                                      <p:cBhvr>
                                        <p:cTn id="29" dur="1" fill="hold">
                                          <p:stCondLst>
                                            <p:cond delay="0"/>
                                          </p:stCondLst>
                                        </p:cTn>
                                        <p:tgtEl>
                                          <p:spTgt spid="8"/>
                                        </p:tgtEl>
                                        <p:attrNameLst>
                                          <p:attrName>style.visibility</p:attrName>
                                        </p:attrNameLst>
                                      </p:cBhvr>
                                      <p:to>
                                        <p:strVal val="visible"/>
                                      </p:to>
                                    </p:set>
                                    <p:animEffect transition="in" filter="wipe(right)">
                                      <p:cBhvr>
                                        <p:cTn id="30" dur="1250"/>
                                        <p:tgtEl>
                                          <p:spTgt spid="8"/>
                                        </p:tgtEl>
                                      </p:cBhvr>
                                    </p:animEffect>
                                  </p:childTnLst>
                                </p:cTn>
                              </p:par>
                              <p:par>
                                <p:cTn id="31" presetID="22" presetClass="entr" presetSubtype="4" fill="hold" nodeType="withEffect">
                                  <p:stCondLst>
                                    <p:cond delay="330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1100"/>
                                        <p:tgtEl>
                                          <p:spTgt spid="6"/>
                                        </p:tgtEl>
                                      </p:cBhvr>
                                    </p:animEffect>
                                  </p:childTnLst>
                                </p:cTn>
                              </p:par>
                              <p:par>
                                <p:cTn id="34" presetID="10" presetClass="entr" presetSubtype="0" fill="hold" grpId="1" nodeType="withEffect">
                                  <p:stCondLst>
                                    <p:cond delay="125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par>
                                <p:cTn id="37" presetID="63" presetClass="path" presetSubtype="0" decel="100000" fill="hold" grpId="0" nodeType="withEffect">
                                  <p:stCondLst>
                                    <p:cond delay="1250"/>
                                  </p:stCondLst>
                                  <p:childTnLst>
                                    <p:animMotion origin="layout" path="M -0.05937 0 L -8.33333E-7 0 " pathEditMode="relative" rAng="0" ptsTypes="AA">
                                      <p:cBhvr>
                                        <p:cTn id="38" dur="1100" fill="hold"/>
                                        <p:tgtEl>
                                          <p:spTgt spid="10"/>
                                        </p:tgtEl>
                                        <p:attrNameLst>
                                          <p:attrName>ppt_x</p:attrName>
                                          <p:attrName>ppt_y</p:attrName>
                                        </p:attrNameLst>
                                      </p:cBhvr>
                                      <p:rCtr x="296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10" grpId="0" animBg="1"/>
      <p:bldP spid="10" grpId="1"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ntent-Profile 1">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3391381" cy="2033076"/>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3" name="Oval 20">
            <a:extLst>
              <a:ext uri="{FF2B5EF4-FFF2-40B4-BE49-F238E27FC236}">
                <a16:creationId xmlns:a16="http://schemas.microsoft.com/office/drawing/2014/main" id="{1EFB3510-D39A-47CF-8191-109DDF9E53D5}"/>
              </a:ext>
            </a:extLst>
          </p:cNvPr>
          <p:cNvSpPr/>
          <p:nvPr userDrawn="1"/>
        </p:nvSpPr>
        <p:spPr>
          <a:xfrm>
            <a:off x="934720" y="859153"/>
            <a:ext cx="1760996" cy="1664128"/>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2670036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98" name="Rectangle 27">
            <a:extLst>
              <a:ext uri="{FF2B5EF4-FFF2-40B4-BE49-F238E27FC236}">
                <a16:creationId xmlns:a16="http://schemas.microsoft.com/office/drawing/2014/main" id="{B1133F59-1301-4D8F-A396-71B6A669F37A}"/>
              </a:ext>
            </a:extLst>
          </p:cNvPr>
          <p:cNvSpPr/>
          <p:nvPr/>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Capgemini Profiles for HSBC GTC Malaysia |  Sept 2023</a:t>
            </a:r>
          </a:p>
        </p:txBody>
      </p:sp>
      <p:sp>
        <p:nvSpPr>
          <p:cNvPr id="100" name="Rectangle 27">
            <a:extLst>
              <a:ext uri="{FF2B5EF4-FFF2-40B4-BE49-F238E27FC236}">
                <a16:creationId xmlns:a16="http://schemas.microsoft.com/office/drawing/2014/main" id="{777F4691-2D56-47C4-B2B1-73BE348DB06D}"/>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99" name="Rectangle 43">
            <a:extLst>
              <a:ext uri="{FF2B5EF4-FFF2-40B4-BE49-F238E27FC236}">
                <a16:creationId xmlns:a16="http://schemas.microsoft.com/office/drawing/2014/main" id="{1302EB1D-4F45-4228-A725-9CA0AEFCE017}"/>
              </a:ext>
            </a:extLst>
          </p:cNvPr>
          <p:cNvSpPr/>
          <p:nvPr/>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3974103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16.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15.emf"/><Relationship Id="rId5" Type="http://schemas.openxmlformats.org/officeDocument/2006/relationships/tags" Target="../tags/tag5.xml"/><Relationship Id="rId10" Type="http://schemas.openxmlformats.org/officeDocument/2006/relationships/oleObject" Target="../embeddings/oleObject1.bin"/><Relationship Id="rId4" Type="http://schemas.openxmlformats.org/officeDocument/2006/relationships/tags" Target="../tags/tag4.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0DAB-5DD2-E5CE-CC72-49217FFF3C4C}"/>
            </a:ext>
          </a:extLst>
        </p:cNvPr>
        <p:cNvGrpSpPr/>
        <p:nvPr/>
      </p:nvGrpSpPr>
      <p:grpSpPr>
        <a:xfrm>
          <a:off x="0" y="0"/>
          <a:ext cx="0" cy="0"/>
          <a:chOff x="0" y="0"/>
          <a:chExt cx="0" cy="0"/>
        </a:xfrm>
      </p:grpSpPr>
      <p:sp>
        <p:nvSpPr>
          <p:cNvPr id="25" name="Rectangle 20">
            <a:extLst>
              <a:ext uri="{FF2B5EF4-FFF2-40B4-BE49-F238E27FC236}">
                <a16:creationId xmlns:a16="http://schemas.microsoft.com/office/drawing/2014/main" id="{316E3B9E-0A49-86FB-A685-93F8C7F862DE}"/>
              </a:ext>
            </a:extLst>
          </p:cNvPr>
          <p:cNvSpPr>
            <a:spLocks noChangeArrowheads="1"/>
          </p:cNvSpPr>
          <p:nvPr>
            <p:custDataLst>
              <p:tags r:id="rId1"/>
            </p:custDataLst>
          </p:nvPr>
        </p:nvSpPr>
        <p:spPr bwMode="auto">
          <a:xfrm>
            <a:off x="3092480" y="1063068"/>
            <a:ext cx="3255531" cy="4073900"/>
          </a:xfrm>
          <a:prstGeom prst="rect">
            <a:avLst/>
          </a:prstGeom>
          <a:noFill/>
          <a:ln w="9525">
            <a:noFill/>
            <a:miter lim="800000"/>
            <a:headEnd/>
            <a:tailEnd/>
          </a:ln>
          <a:effectLst/>
        </p:spPr>
        <p:txBody>
          <a:bodyPr rIns="54000" numCol="1"/>
          <a:lstStyle/>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Currently training in Playwright tool which helps UI Automation work smoothly.</a:t>
            </a:r>
            <a:endParaRPr lang="en-GB" sz="1000" dirty="0">
              <a:sym typeface="BentonSansF Book"/>
            </a:endParaRPr>
          </a:p>
          <a:p>
            <a:pPr>
              <a:spcBef>
                <a:spcPts val="200"/>
              </a:spcBef>
              <a:buClr>
                <a:srgbClr val="002060"/>
              </a:buClr>
              <a:buSzPct val="100000"/>
              <a:tabLst>
                <a:tab pos="6464300" algn="r"/>
              </a:tabLst>
              <a:defRPr/>
            </a:pPr>
            <a:endParaRPr lang="en-IN" sz="1000" kern="0" dirty="0"/>
          </a:p>
          <a:p>
            <a:pPr>
              <a:spcBef>
                <a:spcPts val="200"/>
              </a:spcBef>
              <a:buClr>
                <a:srgbClr val="002060"/>
              </a:buClr>
              <a:defRPr/>
            </a:pPr>
            <a:r>
              <a:rPr lang="en-US" sz="1400" b="1" dirty="0">
                <a:solidFill>
                  <a:srgbClr val="002060"/>
                </a:solidFill>
                <a:latin typeface="Calibri" panose="020F0502020204030204" pitchFamily="34" charset="0"/>
              </a:rPr>
              <a:t>Education</a:t>
            </a:r>
            <a:endParaRPr lang="en-US" sz="1000" kern="0" dirty="0"/>
          </a:p>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B.E with First Class from Amravati University, Maharashtra.</a:t>
            </a:r>
          </a:p>
          <a:p>
            <a:pPr defTabSz="411461">
              <a:lnSpc>
                <a:spcPct val="150000"/>
              </a:lnSpc>
              <a:buSzPct val="100000"/>
              <a:defRPr sz="1800">
                <a:uFillTx/>
                <a:latin typeface="BentonSansF Book"/>
                <a:ea typeface="BentonSansF Book"/>
                <a:cs typeface="BentonSansF Book"/>
                <a:sym typeface="BentonSansF Book"/>
              </a:defRPr>
            </a:pPr>
            <a:endParaRPr lang="en-GB" sz="1000" kern="0" dirty="0">
              <a:solidFill>
                <a:srgbClr val="000000"/>
              </a:solidFill>
              <a:uFill>
                <a:solidFill>
                  <a:srgbClr val="7F7F7F"/>
                </a:solidFill>
              </a:uFill>
              <a:latin typeface="BentonSans Book" panose="02000503040000020004" pitchFamily="2" charset="0"/>
              <a:cs typeface="Segoe UI"/>
            </a:endParaRPr>
          </a:p>
          <a:p>
            <a:pPr>
              <a:lnSpc>
                <a:spcPct val="120000"/>
              </a:lnSpc>
              <a:spcBef>
                <a:spcPts val="300"/>
              </a:spcBef>
              <a:buClr>
                <a:srgbClr val="4D4D4D"/>
              </a:buClr>
              <a:tabLst>
                <a:tab pos="809625" algn="l"/>
              </a:tabLst>
              <a:defRPr/>
            </a:pPr>
            <a:r>
              <a:rPr lang="pt-PT" sz="1400" b="1" dirty="0">
                <a:solidFill>
                  <a:srgbClr val="002060"/>
                </a:solidFill>
                <a:latin typeface="Calibri" panose="020F0502020204030204" pitchFamily="34" charset="0"/>
              </a:rPr>
              <a:t>Skills</a:t>
            </a:r>
            <a:endParaRPr lang="en-US" sz="1000" b="1" kern="0" dirty="0">
              <a:solidFill>
                <a:prstClr val="black">
                  <a:lumMod val="85000"/>
                  <a:lumOff val="15000"/>
                </a:prstClr>
              </a:solidFill>
              <a:latin typeface="Verdana"/>
            </a:endParaRPr>
          </a:p>
          <a:p>
            <a:pPr marL="171450" lvl="1" indent="-171450">
              <a:spcBef>
                <a:spcPts val="200"/>
              </a:spcBef>
              <a:buClr>
                <a:srgbClr val="0070AD"/>
              </a:buClr>
              <a:buSzPct val="100000"/>
              <a:buFont typeface="Arial" panose="020B0604020202020204" pitchFamily="34" charset="0"/>
              <a:buChar char="•"/>
              <a:tabLst>
                <a:tab pos="6464300" algn="r"/>
              </a:tabLst>
              <a:defRPr/>
            </a:pPr>
            <a:endParaRPr lang="en-US" sz="1000" dirty="0"/>
          </a:p>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Analyzing &amp; validating the completeness of business requirements.</a:t>
            </a:r>
          </a:p>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Designed and executed test cases according to functional specifications.</a:t>
            </a:r>
            <a:endParaRPr lang="en-IN" sz="1000" dirty="0"/>
          </a:p>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Performed Smoke, System and Functional, Retesting, Regression testing.</a:t>
            </a:r>
          </a:p>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Experience in Designing and implementation of TestNG framework with Web driver.</a:t>
            </a:r>
          </a:p>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Developed Automation Test Scripts.</a:t>
            </a:r>
            <a:endParaRPr lang="en-IN" sz="1000" dirty="0"/>
          </a:p>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Participated in weekly status meetings with the team, developers to discuss open issues and communicating with onsite team.</a:t>
            </a:r>
            <a:endParaRPr lang="en-IN" sz="1000" dirty="0"/>
          </a:p>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Propose improvements to current practices ensuring that approved enhancement are fully implemented and the repeat errors are eliminated.</a:t>
            </a:r>
            <a:endParaRPr kumimoji="0" lang="en-US" sz="1000" b="0" i="0" u="none" strike="noStrike" kern="0" cap="none" spc="0" normalizeH="0" baseline="0" noProof="0" dirty="0">
              <a:ln>
                <a:noFill/>
              </a:ln>
              <a:solidFill>
                <a:prstClr val="black">
                  <a:lumMod val="85000"/>
                  <a:lumOff val="15000"/>
                </a:prstClr>
              </a:solidFill>
              <a:effectLst/>
              <a:uLnTx/>
              <a:uFillTx/>
              <a:latin typeface="Verdana"/>
              <a:ea typeface="+mn-ea"/>
              <a:cs typeface="+mn-cs"/>
            </a:endParaRPr>
          </a:p>
        </p:txBody>
      </p:sp>
      <p:sp>
        <p:nvSpPr>
          <p:cNvPr id="28" name="Rectangle 20">
            <a:extLst>
              <a:ext uri="{FF2B5EF4-FFF2-40B4-BE49-F238E27FC236}">
                <a16:creationId xmlns:a16="http://schemas.microsoft.com/office/drawing/2014/main" id="{9E2CBF67-0A01-B5CC-7D05-BE43C72CAC99}"/>
              </a:ext>
            </a:extLst>
          </p:cNvPr>
          <p:cNvSpPr>
            <a:spLocks noChangeArrowheads="1"/>
          </p:cNvSpPr>
          <p:nvPr>
            <p:custDataLst>
              <p:tags r:id="rId2"/>
            </p:custDataLst>
          </p:nvPr>
        </p:nvSpPr>
        <p:spPr bwMode="auto">
          <a:xfrm>
            <a:off x="2970489" y="3673923"/>
            <a:ext cx="3255531" cy="3881516"/>
          </a:xfrm>
          <a:prstGeom prst="rect">
            <a:avLst/>
          </a:prstGeom>
          <a:noFill/>
          <a:ln w="9525">
            <a:noFill/>
            <a:miter lim="800000"/>
            <a:headEnd/>
            <a:tailEnd/>
          </a:ln>
          <a:effectLst/>
        </p:spPr>
        <p:txBody>
          <a:bodyPr rIns="54000"/>
          <a:lstStyle/>
          <a:p>
            <a:pPr marL="171450" indent="-171450">
              <a:lnSpc>
                <a:spcPct val="120000"/>
              </a:lnSpc>
              <a:spcBef>
                <a:spcPts val="300"/>
              </a:spcBef>
              <a:buClr>
                <a:srgbClr val="4D4D4D"/>
              </a:buClr>
              <a:buFont typeface="Arial" panose="020B0604020202020204" pitchFamily="34" charset="0"/>
              <a:buChar char="•"/>
              <a:tabLst>
                <a:tab pos="809625" algn="l"/>
              </a:tabLst>
              <a:defRPr/>
            </a:pPr>
            <a:endParaRPr kumimoji="0" lang="en-US" sz="1000" b="0" i="0" u="none" strike="noStrike" kern="0" cap="none" spc="0" normalizeH="0" baseline="0" noProof="0">
              <a:ln>
                <a:noFill/>
              </a:ln>
              <a:solidFill>
                <a:prstClr val="black">
                  <a:lumMod val="85000"/>
                  <a:lumOff val="15000"/>
                </a:prstClr>
              </a:solidFill>
              <a:effectLst/>
              <a:uLnTx/>
              <a:uFillTx/>
              <a:latin typeface="Verdana"/>
              <a:ea typeface="+mn-ea"/>
              <a:cs typeface="+mn-cs"/>
            </a:endParaRPr>
          </a:p>
        </p:txBody>
      </p:sp>
      <p:sp>
        <p:nvSpPr>
          <p:cNvPr id="9" name="Rectangle 8">
            <a:extLst>
              <a:ext uri="{FF2B5EF4-FFF2-40B4-BE49-F238E27FC236}">
                <a16:creationId xmlns:a16="http://schemas.microsoft.com/office/drawing/2014/main" id="{116BD14C-C69C-71CF-92A7-0806422D68AD}"/>
              </a:ext>
            </a:extLst>
          </p:cNvPr>
          <p:cNvSpPr/>
          <p:nvPr/>
        </p:nvSpPr>
        <p:spPr>
          <a:xfrm>
            <a:off x="3125027" y="702727"/>
            <a:ext cx="2906890" cy="34272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400" b="1">
                <a:solidFill>
                  <a:srgbClr val="002060"/>
                </a:solidFill>
                <a:latin typeface="Calibri" panose="020F0502020204030204" pitchFamily="34" charset="0"/>
              </a:rPr>
              <a:t>Engagements</a:t>
            </a:r>
            <a:endParaRPr kumimoji="0" lang="pt-PT" sz="1400" b="1" i="0" u="none" strike="noStrike" kern="1200" cap="none" spc="0" normalizeH="0" baseline="0" noProof="0">
              <a:ln>
                <a:noFill/>
              </a:ln>
              <a:solidFill>
                <a:srgbClr val="002060"/>
              </a:solidFill>
              <a:effectLst/>
              <a:uLnTx/>
              <a:uFillTx/>
              <a:latin typeface="Calibri" panose="020F0502020204030204" pitchFamily="34" charset="0"/>
              <a:ea typeface="+mn-ea"/>
              <a:cs typeface="+mn-cs"/>
            </a:endParaRPr>
          </a:p>
        </p:txBody>
      </p:sp>
      <p:sp>
        <p:nvSpPr>
          <p:cNvPr id="24" name="Rectangle 23">
            <a:extLst>
              <a:ext uri="{FF2B5EF4-FFF2-40B4-BE49-F238E27FC236}">
                <a16:creationId xmlns:a16="http://schemas.microsoft.com/office/drawing/2014/main" id="{2E5556C3-F539-35C9-186D-5AC43A7BC3AF}"/>
              </a:ext>
            </a:extLst>
          </p:cNvPr>
          <p:cNvSpPr>
            <a:spLocks noChangeArrowheads="1"/>
          </p:cNvSpPr>
          <p:nvPr>
            <p:custDataLst>
              <p:tags r:id="rId3"/>
            </p:custDataLst>
          </p:nvPr>
        </p:nvSpPr>
        <p:spPr bwMode="auto">
          <a:xfrm>
            <a:off x="231420" y="2420888"/>
            <a:ext cx="2803480" cy="319271"/>
          </a:xfrm>
          <a:prstGeom prst="rect">
            <a:avLst/>
          </a:prstGeom>
          <a:noFill/>
          <a:ln w="25400" cap="flat" cmpd="sng" algn="ctr">
            <a:noFill/>
            <a:prstDash val="solid"/>
          </a:ln>
          <a:effectLst/>
        </p:spPr>
        <p:txBody>
          <a:bodyPr/>
          <a:lstStyle/>
          <a:p>
            <a:pPr marL="0" marR="0" lvl="0" indent="0" algn="l" defTabSz="914400" rtl="0" eaLnBrk="1" fontAlgn="auto" latinLnBrk="0" hangingPunct="1">
              <a:lnSpc>
                <a:spcPct val="100000"/>
              </a:lnSpc>
              <a:spcBef>
                <a:spcPts val="200"/>
              </a:spcBef>
              <a:spcAft>
                <a:spcPts val="0"/>
              </a:spcAft>
              <a:buClr>
                <a:srgbClr val="009BCC"/>
              </a:buClr>
              <a:buSzTx/>
              <a:buFontTx/>
              <a:buNone/>
              <a:tabLst/>
              <a:defRPr/>
            </a:pPr>
            <a:r>
              <a:rPr kumimoji="0" lang="en-AU" sz="1400" b="1" i="0" u="none" strike="noStrike" kern="1200" cap="none" spc="0" normalizeH="0" baseline="0" noProof="0">
                <a:ln>
                  <a:noFill/>
                </a:ln>
                <a:solidFill>
                  <a:srgbClr val="002060"/>
                </a:solidFill>
                <a:effectLst/>
                <a:uLnTx/>
                <a:uFillTx/>
                <a:latin typeface="Calibri" panose="020F0502020204030204" pitchFamily="34" charset="0"/>
                <a:ea typeface="+mn-ea"/>
                <a:cs typeface="+mn-cs"/>
              </a:rPr>
              <a:t>Profile</a:t>
            </a:r>
            <a:endParaRPr kumimoji="0" lang="en-AU" sz="700" b="1" i="0" u="none" strike="noStrike" kern="1200" cap="none" spc="0" normalizeH="0" baseline="0" noProof="0">
              <a:ln>
                <a:noFill/>
              </a:ln>
              <a:solidFill>
                <a:srgbClr val="002060"/>
              </a:solidFill>
              <a:effectLst/>
              <a:uLnTx/>
              <a:uFillTx/>
              <a:latin typeface="Calibri" panose="020F0502020204030204" pitchFamily="34" charset="0"/>
              <a:ea typeface="+mn-ea"/>
              <a:cs typeface="+mn-cs"/>
            </a:endParaRPr>
          </a:p>
        </p:txBody>
      </p:sp>
      <p:sp>
        <p:nvSpPr>
          <p:cNvPr id="19" name="Rectangle 20">
            <a:extLst>
              <a:ext uri="{FF2B5EF4-FFF2-40B4-BE49-F238E27FC236}">
                <a16:creationId xmlns:a16="http://schemas.microsoft.com/office/drawing/2014/main" id="{E82C45B2-6E0B-3B04-FFD6-037E1D706CB2}"/>
              </a:ext>
            </a:extLst>
          </p:cNvPr>
          <p:cNvSpPr>
            <a:spLocks noChangeArrowheads="1"/>
          </p:cNvSpPr>
          <p:nvPr>
            <p:custDataLst>
              <p:tags r:id="rId4"/>
            </p:custDataLst>
          </p:nvPr>
        </p:nvSpPr>
        <p:spPr bwMode="auto">
          <a:xfrm>
            <a:off x="0" y="2819508"/>
            <a:ext cx="3111399" cy="3345796"/>
          </a:xfrm>
          <a:prstGeom prst="rect">
            <a:avLst/>
          </a:prstGeom>
          <a:noFill/>
          <a:ln w="9525">
            <a:noFill/>
            <a:miter lim="800000"/>
            <a:headEnd/>
            <a:tailEnd/>
          </a:ln>
          <a:effectLst/>
        </p:spPr>
        <p:txBody>
          <a:bodyPr lIns="91440" tIns="45720" rIns="54000" bIns="45720" anchor="t"/>
          <a:lstStyle/>
          <a:p>
            <a:pPr lvl="0"/>
            <a:r>
              <a:rPr lang="en-US" sz="950" dirty="0">
                <a:latin typeface="Verdana"/>
                <a:cs typeface="Arial" panose="020B0604020202020204" pitchFamily="34" charset="0"/>
              </a:rPr>
              <a:t>A skilled software professional with more than 5.1 years of experience in Testing Web based applications using Manual Testing and Automation Testing using Selenium web driver for Investment, Telecom and Data industry.</a:t>
            </a:r>
            <a:endParaRPr lang="en-IN" sz="950" dirty="0">
              <a:latin typeface="Verdana"/>
              <a:cs typeface="Arial" panose="020B0604020202020204" pitchFamily="34" charset="0"/>
            </a:endParaRPr>
          </a:p>
          <a:p>
            <a:pPr defTabSz="457200">
              <a:spcBef>
                <a:spcPts val="1200"/>
              </a:spcBef>
              <a:defRPr sz="900">
                <a:latin typeface="BentonSansF Book"/>
                <a:ea typeface="BentonSansF Book"/>
                <a:cs typeface="BentonSansF Book"/>
                <a:sym typeface="BentonSansF Book"/>
              </a:defRPr>
            </a:pPr>
            <a:r>
              <a:rPr lang="en-US" sz="950" dirty="0">
                <a:latin typeface="Verdana"/>
                <a:cs typeface="Arial" panose="020B0604020202020204" pitchFamily="34" charset="0"/>
                <a:sym typeface="BentonSansF Book"/>
              </a:rPr>
              <a:t>Core expertise in Software Testing, Manual Testing, System &amp; Functional Testing, Automation Testing, API Testing.</a:t>
            </a:r>
            <a:r>
              <a:rPr lang="en-IN" sz="950" dirty="0">
                <a:latin typeface="Verdana"/>
                <a:cs typeface="Arial" panose="020B0604020202020204" pitchFamily="34" charset="0"/>
                <a:sym typeface="BentonSansF Book"/>
              </a:rPr>
              <a:t> </a:t>
            </a:r>
            <a:r>
              <a:rPr lang="en-US" sz="950" dirty="0">
                <a:latin typeface="Verdana"/>
                <a:cs typeface="Arial" panose="020B0604020202020204" pitchFamily="34" charset="0"/>
                <a:sym typeface="BentonSansF Book"/>
              </a:rPr>
              <a:t>Hands on experience in Agile Methodology with Scrum Framework. Good knowledge and experience in JIRA. Good knowledge of service used Get, Put, Patch, Post and Delete.</a:t>
            </a:r>
            <a:endParaRPr lang="en-IN" sz="950" dirty="0">
              <a:latin typeface="Verdana"/>
              <a:cs typeface="Arial" panose="020B0604020202020204" pitchFamily="34" charset="0"/>
              <a:sym typeface="BentonSansF Book"/>
            </a:endParaRPr>
          </a:p>
          <a:p>
            <a:pPr defTabSz="457200">
              <a:spcBef>
                <a:spcPts val="1200"/>
              </a:spcBef>
              <a:defRPr sz="900">
                <a:latin typeface="BentonSansF Book"/>
                <a:ea typeface="BentonSansF Book"/>
                <a:cs typeface="BentonSansF Book"/>
                <a:sym typeface="BentonSansF Book"/>
              </a:defRPr>
            </a:pPr>
            <a:r>
              <a:rPr lang="en-US" sz="950" dirty="0">
                <a:latin typeface="Verdana"/>
                <a:cs typeface="Arial" panose="020B0604020202020204" pitchFamily="34" charset="0"/>
                <a:sym typeface="BentonSansF Book"/>
              </a:rPr>
              <a:t>Developed User Defined functions to support the automated scripts. Used the Data driven Testing-using Selenium.</a:t>
            </a:r>
            <a:r>
              <a:rPr lang="en-IN" sz="950" dirty="0">
                <a:latin typeface="Verdana"/>
                <a:cs typeface="Arial" panose="020B0604020202020204" pitchFamily="34" charset="0"/>
                <a:sym typeface="BentonSansF Book"/>
              </a:rPr>
              <a:t> </a:t>
            </a:r>
            <a:r>
              <a:rPr lang="en-US" sz="950" dirty="0">
                <a:latin typeface="Verdana"/>
                <a:cs typeface="Arial" panose="020B0604020202020204" pitchFamily="34" charset="0"/>
                <a:sym typeface="BentonSansF Book"/>
              </a:rPr>
              <a:t>Knowledge in Core java concepts. Experience in creating and executing test scripts as parallel and sequential using Web driver TestNG with Java.</a:t>
            </a:r>
            <a:endParaRPr lang="en-IN" sz="950" dirty="0">
              <a:latin typeface="Verdana"/>
              <a:cs typeface="Arial" panose="020B0604020202020204" pitchFamily="34" charset="0"/>
              <a:sym typeface="BentonSansF Book"/>
            </a:endParaRPr>
          </a:p>
          <a:p>
            <a:pPr defTabSz="457200">
              <a:spcBef>
                <a:spcPts val="1200"/>
              </a:spcBef>
              <a:defRPr sz="900">
                <a:latin typeface="BentonSansF Book"/>
                <a:ea typeface="BentonSansF Book"/>
                <a:cs typeface="BentonSansF Book"/>
                <a:sym typeface="BentonSansF Book"/>
              </a:defRPr>
            </a:pPr>
            <a:r>
              <a:rPr lang="en-US" sz="950" dirty="0">
                <a:latin typeface="Verdana"/>
                <a:cs typeface="Arial" panose="020B0604020202020204" pitchFamily="34" charset="0"/>
                <a:sym typeface="BentonSansF Book"/>
              </a:rPr>
              <a:t>Possess problem-solving skills, ability to follow industry standards and procedures. Ability to quickly master new concepts, applications and a team player.</a:t>
            </a:r>
            <a:endParaRPr lang="en-US" sz="950" b="1" dirty="0">
              <a:latin typeface="Verdana"/>
              <a:cs typeface="Arial" panose="020B0604020202020204" pitchFamily="34" charset="0"/>
            </a:endParaRPr>
          </a:p>
        </p:txBody>
      </p:sp>
      <p:graphicFrame>
        <p:nvGraphicFramePr>
          <p:cNvPr id="21" name="Object 20" hidden="1">
            <a:extLst>
              <a:ext uri="{FF2B5EF4-FFF2-40B4-BE49-F238E27FC236}">
                <a16:creationId xmlns:a16="http://schemas.microsoft.com/office/drawing/2014/main" id="{147B367F-E06B-346F-68FD-386965BE0567}"/>
              </a:ext>
            </a:extLst>
          </p:cNvPr>
          <p:cNvGraphicFramePr>
            <a:graphicFrameLocks noChangeAspect="1"/>
          </p:cNvGraphicFramePr>
          <p:nvPr>
            <p:custDataLst>
              <p:tags r:id="rId5"/>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0" imgW="270" imgH="270" progId="TCLayout.ActiveDocument.1">
                  <p:embed/>
                </p:oleObj>
              </mc:Choice>
              <mc:Fallback>
                <p:oleObj name="think-cell Slide" r:id="rId10" imgW="270" imgH="270" progId="TCLayout.ActiveDocument.1">
                  <p:embed/>
                  <p:pic>
                    <p:nvPicPr>
                      <p:cNvPr id="21" name="Object 20" hidden="1">
                        <a:extLst>
                          <a:ext uri="{FF2B5EF4-FFF2-40B4-BE49-F238E27FC236}">
                            <a16:creationId xmlns:a16="http://schemas.microsoft.com/office/drawing/2014/main" id="{147B367F-E06B-346F-68FD-386965BE056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 name="Straight Connector 2">
            <a:extLst>
              <a:ext uri="{FF2B5EF4-FFF2-40B4-BE49-F238E27FC236}">
                <a16:creationId xmlns:a16="http://schemas.microsoft.com/office/drawing/2014/main" id="{4BF1541D-80C1-2383-E0D4-57DD4D75A660}"/>
              </a:ext>
            </a:extLst>
          </p:cNvPr>
          <p:cNvCxnSpPr/>
          <p:nvPr/>
        </p:nvCxnSpPr>
        <p:spPr>
          <a:xfrm>
            <a:off x="3189109" y="1004246"/>
            <a:ext cx="184592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C93FEE0D-F786-B25D-10EE-FC3815FB8C36}"/>
              </a:ext>
            </a:extLst>
          </p:cNvPr>
          <p:cNvSpPr/>
          <p:nvPr/>
        </p:nvSpPr>
        <p:spPr>
          <a:xfrm>
            <a:off x="6245072" y="702727"/>
            <a:ext cx="5611374" cy="5622665"/>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PT" sz="1400" b="1" i="0" u="none" strike="noStrike" kern="1200" cap="none" spc="0" normalizeH="0" baseline="0" noProof="0">
                <a:ln>
                  <a:noFill/>
                </a:ln>
                <a:solidFill>
                  <a:srgbClr val="002060"/>
                </a:solidFill>
                <a:effectLst/>
                <a:uLnTx/>
                <a:uFillTx/>
                <a:latin typeface="Calibri" panose="020F0502020204030204" pitchFamily="34" charset="0"/>
                <a:ea typeface="+mn-ea"/>
                <a:cs typeface="+mn-cs"/>
              </a:rPr>
              <a:t>Professional </a:t>
            </a:r>
            <a:r>
              <a:rPr lang="pt-PT" sz="1400" b="1">
                <a:solidFill>
                  <a:srgbClr val="002060"/>
                </a:solidFill>
                <a:latin typeface="Calibri" panose="020F0502020204030204" pitchFamily="34" charset="0"/>
              </a:rPr>
              <a:t>experience</a:t>
            </a:r>
            <a:endParaRPr lang="en-AU" sz="1400" b="1">
              <a:solidFill>
                <a:srgbClr val="002060"/>
              </a:solidFill>
              <a:latin typeface="Calibri" panose="020F0502020204030204" pitchFamily="34" charset="0"/>
            </a:endParaRPr>
          </a:p>
        </p:txBody>
      </p:sp>
      <p:cxnSp>
        <p:nvCxnSpPr>
          <p:cNvPr id="30" name="Straight Connector 29">
            <a:extLst>
              <a:ext uri="{FF2B5EF4-FFF2-40B4-BE49-F238E27FC236}">
                <a16:creationId xmlns:a16="http://schemas.microsoft.com/office/drawing/2014/main" id="{01332E90-3E61-52D8-F085-7A52A5CFFCEF}"/>
              </a:ext>
            </a:extLst>
          </p:cNvPr>
          <p:cNvCxnSpPr/>
          <p:nvPr/>
        </p:nvCxnSpPr>
        <p:spPr>
          <a:xfrm>
            <a:off x="6348011" y="1004246"/>
            <a:ext cx="184592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60F2736-F753-39BE-ED29-8167E0DC6BA0}"/>
              </a:ext>
            </a:extLst>
          </p:cNvPr>
          <p:cNvCxnSpPr/>
          <p:nvPr/>
        </p:nvCxnSpPr>
        <p:spPr>
          <a:xfrm>
            <a:off x="231420" y="2852936"/>
            <a:ext cx="184592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5C24863-01F9-E1BC-156F-04C63B47839C}"/>
              </a:ext>
            </a:extLst>
          </p:cNvPr>
          <p:cNvCxnSpPr>
            <a:cxnSpLocks/>
          </p:cNvCxnSpPr>
          <p:nvPr/>
        </p:nvCxnSpPr>
        <p:spPr>
          <a:xfrm>
            <a:off x="3217366" y="2996952"/>
            <a:ext cx="50237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F586DB7-94CB-4D6D-8729-F8FCB2E98AC5}"/>
              </a:ext>
            </a:extLst>
          </p:cNvPr>
          <p:cNvSpPr/>
          <p:nvPr>
            <p:custDataLst>
              <p:tags r:id="rId6"/>
            </p:custDataLst>
          </p:nvPr>
        </p:nvSpPr>
        <p:spPr>
          <a:xfrm>
            <a:off x="3144079" y="-55190"/>
            <a:ext cx="7059239" cy="857871"/>
          </a:xfrm>
          <a:prstGeom prst="rect">
            <a:avLst/>
          </a:prstGeom>
          <a:noFill/>
          <a:ln w="25400" cap="flat" cmpd="sng" algn="ctr">
            <a:noFill/>
            <a:prstDash val="solid"/>
          </a:ln>
          <a:effectLst/>
        </p:spPr>
        <p:txBody>
          <a:bodyPr lIns="91440" tIns="45720" rIns="91440" bIns="45720" anchor="t"/>
          <a:lstStyle/>
          <a:p>
            <a:pPr algn="ctr" eaLnBrk="0" hangingPunct="0">
              <a:tabLst>
                <a:tab pos="6464300" algn="r"/>
              </a:tabLst>
              <a:defRPr/>
            </a:pPr>
            <a:r>
              <a:rPr lang="en-IN" sz="2800" b="1" kern="0" dirty="0">
                <a:solidFill>
                  <a:srgbClr val="002060"/>
                </a:solidFill>
                <a:latin typeface="Calibri"/>
                <a:ea typeface="Calibri"/>
                <a:cs typeface="Arial"/>
              </a:rPr>
              <a:t>Rajat Nikam</a:t>
            </a:r>
          </a:p>
          <a:p>
            <a:pPr algn="ctr" eaLnBrk="0" hangingPunct="0">
              <a:tabLst>
                <a:tab pos="6464300" algn="r"/>
              </a:tabLst>
              <a:defRPr/>
            </a:pPr>
            <a:r>
              <a:rPr lang="fr-FR" b="1" kern="0" dirty="0">
                <a:solidFill>
                  <a:srgbClr val="002060"/>
                </a:solidFill>
                <a:latin typeface="Calibri"/>
                <a:ea typeface="Calibri"/>
                <a:cs typeface="Arial"/>
              </a:rPr>
              <a:t>(Automation Test Engineer)</a:t>
            </a:r>
            <a:endParaRPr lang="fr-FR" b="1" i="0" u="none" strike="noStrike" kern="0" cap="none" spc="0" normalizeH="0" baseline="0" noProof="0" dirty="0">
              <a:ln>
                <a:noFill/>
              </a:ln>
              <a:solidFill>
                <a:srgbClr val="002060"/>
              </a:solidFill>
              <a:effectLst/>
              <a:uLnTx/>
              <a:uFillTx/>
              <a:latin typeface="Calibri"/>
              <a:ea typeface="Calibri"/>
              <a:cs typeface="Arial"/>
            </a:endParaRPr>
          </a:p>
        </p:txBody>
      </p:sp>
      <p:pic>
        <p:nvPicPr>
          <p:cNvPr id="2" name="Picture 2" descr="One Of The Top Life Insurance Companies In SG | Prudential ...">
            <a:extLst>
              <a:ext uri="{FF2B5EF4-FFF2-40B4-BE49-F238E27FC236}">
                <a16:creationId xmlns:a16="http://schemas.microsoft.com/office/drawing/2014/main" id="{CB3F4C36-A63D-FF5E-F78F-393EE7441DB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458450" y="176212"/>
            <a:ext cx="1085850" cy="814388"/>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2D81F5FB-622F-AD06-0FBE-68AC8C0396F3}"/>
              </a:ext>
            </a:extLst>
          </p:cNvPr>
          <p:cNvCxnSpPr>
            <a:cxnSpLocks/>
          </p:cNvCxnSpPr>
          <p:nvPr/>
        </p:nvCxnSpPr>
        <p:spPr>
          <a:xfrm>
            <a:off x="3189109" y="1844824"/>
            <a:ext cx="76021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8" name="Groupe 1">
            <a:extLst>
              <a:ext uri="{FF2B5EF4-FFF2-40B4-BE49-F238E27FC236}">
                <a16:creationId xmlns:a16="http://schemas.microsoft.com/office/drawing/2014/main" id="{C1AA7407-1455-EC98-5A77-266C70003FE6}"/>
              </a:ext>
            </a:extLst>
          </p:cNvPr>
          <p:cNvGrpSpPr>
            <a:grpSpLocks noChangeAspect="1"/>
          </p:cNvGrpSpPr>
          <p:nvPr/>
        </p:nvGrpSpPr>
        <p:grpSpPr>
          <a:xfrm>
            <a:off x="11552224" y="381000"/>
            <a:ext cx="419436" cy="388988"/>
            <a:chOff x="11501102" y="171573"/>
            <a:chExt cx="419436" cy="388988"/>
          </a:xfrm>
        </p:grpSpPr>
        <p:sp>
          <p:nvSpPr>
            <p:cNvPr id="10" name="Freeform 13">
              <a:extLst>
                <a:ext uri="{FF2B5EF4-FFF2-40B4-BE49-F238E27FC236}">
                  <a16:creationId xmlns:a16="http://schemas.microsoft.com/office/drawing/2014/main" id="{B4B1AC71-6764-8C54-08E8-7C58CDBE639E}"/>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4" name="Freeform 14">
              <a:extLst>
                <a:ext uri="{FF2B5EF4-FFF2-40B4-BE49-F238E27FC236}">
                  <a16:creationId xmlns:a16="http://schemas.microsoft.com/office/drawing/2014/main" id="{8DA0B136-E145-378B-97CD-FA6825AF6735}"/>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2" name="Rectangle 16">
            <a:extLst>
              <a:ext uri="{FF2B5EF4-FFF2-40B4-BE49-F238E27FC236}">
                <a16:creationId xmlns:a16="http://schemas.microsoft.com/office/drawing/2014/main" id="{E1D51D5B-B0BF-D00D-358F-48827FE9B8C7}"/>
              </a:ext>
            </a:extLst>
          </p:cNvPr>
          <p:cNvSpPr>
            <a:spLocks noChangeArrowheads="1"/>
          </p:cNvSpPr>
          <p:nvPr>
            <p:custDataLst>
              <p:tags r:id="rId7"/>
            </p:custDataLst>
          </p:nvPr>
        </p:nvSpPr>
        <p:spPr bwMode="auto">
          <a:xfrm>
            <a:off x="6186803" y="953613"/>
            <a:ext cx="5966571" cy="57157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br>
              <a:rPr lang="en-IN" sz="1000" dirty="0"/>
            </a:br>
            <a:r>
              <a:rPr lang="en-IN" sz="1000" b="1" dirty="0">
                <a:solidFill>
                  <a:srgbClr val="00234B"/>
                </a:solidFill>
                <a:latin typeface="Verdana"/>
                <a:cs typeface="Arial" panose="020B0604020202020204" pitchFamily="34" charset="0"/>
              </a:rPr>
              <a:t>Capgemini  (May 2025 – Till Now) - Consultant | Automation Testing</a:t>
            </a:r>
            <a:endParaRPr lang="en-US" sz="1000" b="1" dirty="0">
              <a:solidFill>
                <a:srgbClr val="00234B"/>
              </a:solidFill>
              <a:latin typeface="Verdana"/>
              <a:cs typeface="Arial" panose="020B0604020202020204" pitchFamily="34" charset="0"/>
            </a:endParaRPr>
          </a:p>
          <a:p>
            <a:pPr marL="171450" indent="-171450">
              <a:buFont typeface="Arial" panose="020B0604020202020204" pitchFamily="34" charset="0"/>
              <a:buChar char="•"/>
            </a:pPr>
            <a:endParaRPr lang="en-US" sz="1000" dirty="0">
              <a:solidFill>
                <a:schemeClr val="tx1"/>
              </a:solidFill>
              <a:latin typeface="Verdana"/>
              <a:cs typeface="Arial" panose="020B0604020202020204" pitchFamily="34" charset="0"/>
            </a:endParaRPr>
          </a:p>
          <a:p>
            <a:pPr marL="171450" indent="-171450">
              <a:buFont typeface="Arial" panose="020B0604020202020204" pitchFamily="34" charset="0"/>
              <a:buChar char="•"/>
            </a:pPr>
            <a:r>
              <a:rPr lang="en-US" sz="1000" dirty="0">
                <a:solidFill>
                  <a:schemeClr val="tx1"/>
                </a:solidFill>
                <a:latin typeface="Verdana"/>
                <a:cs typeface="Arial" panose="020B0604020202020204" pitchFamily="34" charset="0"/>
              </a:rPr>
              <a:t>Working with Capgemini, as Consultant (Automation Test Engineer), doing training for various testing practices and learnings. </a:t>
            </a:r>
          </a:p>
          <a:p>
            <a:endParaRPr lang="en-US" sz="1400" b="1" dirty="0">
              <a:solidFill>
                <a:schemeClr val="tx1"/>
              </a:solidFill>
              <a:latin typeface="BentonSansF Book" panose="02000503040000020004" pitchFamily="2" charset="77"/>
            </a:endParaRPr>
          </a:p>
          <a:p>
            <a:r>
              <a:rPr lang="en-US" sz="1000" b="1" dirty="0">
                <a:solidFill>
                  <a:srgbClr val="00234B"/>
                </a:solidFill>
                <a:latin typeface="Verdana"/>
                <a:cs typeface="Arial" panose="020B0604020202020204" pitchFamily="34" charset="0"/>
              </a:rPr>
              <a:t>LTIMindtree ( Oct 2021 – Feb 2025) – Senior Quality Engineer | FOSFOR</a:t>
            </a:r>
          </a:p>
          <a:p>
            <a:endParaRPr lang="en-US" sz="1000" b="1" dirty="0">
              <a:solidFill>
                <a:srgbClr val="00234B"/>
              </a:solidFill>
              <a:latin typeface="Verdana"/>
              <a:cs typeface="Arial" panose="020B0604020202020204" pitchFamily="34" charset="0"/>
            </a:endParaRPr>
          </a:p>
          <a:p>
            <a:pPr marL="171450" indent="-171450">
              <a:buFont typeface="Arial" panose="020B0604020202020204" pitchFamily="34" charset="0"/>
              <a:buChar char="•"/>
            </a:pPr>
            <a:r>
              <a:rPr lang="en-US" sz="1000" dirty="0">
                <a:solidFill>
                  <a:schemeClr val="tx1"/>
                </a:solidFill>
                <a:latin typeface="Verdana"/>
                <a:cs typeface="Arial" panose="020B0604020202020204" pitchFamily="34" charset="0"/>
              </a:rPr>
              <a:t>FOSFOR is a platform that facilitates your journey from data to decision making.</a:t>
            </a:r>
          </a:p>
          <a:p>
            <a:pPr marL="171450" indent="-171450">
              <a:buFont typeface="Arial" panose="020B0604020202020204" pitchFamily="34" charset="0"/>
              <a:buChar char="•"/>
            </a:pPr>
            <a:r>
              <a:rPr lang="en-US" sz="1000" dirty="0">
                <a:solidFill>
                  <a:schemeClr val="tx1"/>
                </a:solidFill>
                <a:latin typeface="Verdana"/>
                <a:cs typeface="Arial" panose="020B0604020202020204" pitchFamily="34" charset="0"/>
              </a:rPr>
              <a:t>It optimizes operations across the data value chain by unifying all the components of the modern data stack.</a:t>
            </a:r>
          </a:p>
          <a:p>
            <a:pPr marL="171450" indent="-171450">
              <a:buFont typeface="Arial" panose="020B0604020202020204" pitchFamily="34" charset="0"/>
              <a:buChar char="•"/>
            </a:pPr>
            <a:r>
              <a:rPr lang="en-US" sz="1000" dirty="0">
                <a:solidFill>
                  <a:schemeClr val="tx1"/>
                </a:solidFill>
                <a:latin typeface="Verdana"/>
                <a:cs typeface="Arial" panose="020B0604020202020204" pitchFamily="34" charset="0"/>
              </a:rPr>
              <a:t>It amplifies the capabilities of the various elements in the data cloud, application, and data infrastructure layers through their effective integration and simplifies how organizations interact with their data.</a:t>
            </a:r>
          </a:p>
          <a:p>
            <a:pPr marL="171450" indent="-171450">
              <a:buFont typeface="Arial" panose="020B0604020202020204" pitchFamily="34" charset="0"/>
              <a:buChar char="•"/>
            </a:pPr>
            <a:r>
              <a:rPr lang="en-US" sz="1000" dirty="0">
                <a:solidFill>
                  <a:schemeClr val="tx1"/>
                </a:solidFill>
                <a:latin typeface="Verdana"/>
                <a:cs typeface="Arial" panose="020B0604020202020204" pitchFamily="34" charset="0"/>
              </a:rPr>
              <a:t>The FOSFOR decision cloud empowers users to organize data, build impactful AI applications, and explore their curiosity to uncover new insights and make more outcome focused business decisions in real-time.</a:t>
            </a:r>
          </a:p>
          <a:p>
            <a:pPr marL="171450" indent="-171450">
              <a:buFont typeface="Arial" panose="020B0604020202020204" pitchFamily="34" charset="0"/>
              <a:buChar char="•"/>
            </a:pPr>
            <a:endParaRPr lang="en-IN" sz="1000" dirty="0">
              <a:solidFill>
                <a:schemeClr val="tx1"/>
              </a:solidFill>
              <a:latin typeface="Verdana"/>
              <a:cs typeface="Arial" panose="020B0604020202020204" pitchFamily="34" charset="0"/>
            </a:endParaRPr>
          </a:p>
          <a:p>
            <a:r>
              <a:rPr lang="en-IN" sz="1000" b="1" dirty="0">
                <a:solidFill>
                  <a:srgbClr val="00234B"/>
                </a:solidFill>
                <a:latin typeface="Verdana"/>
                <a:cs typeface="Arial" panose="020B0604020202020204" pitchFamily="34" charset="0"/>
              </a:rPr>
              <a:t>Mehta </a:t>
            </a:r>
            <a:r>
              <a:rPr lang="en-IN" sz="1000" b="1" dirty="0">
                <a:solidFill>
                  <a:srgbClr val="00234B"/>
                </a:solidFill>
                <a:latin typeface="Verdana"/>
                <a:cs typeface="Arial" panose="020B0604020202020204" pitchFamily="34" charset="0"/>
                <a:sym typeface="BentonSansF Medium"/>
              </a:rPr>
              <a:t>– Revenue Management Control (RMC)</a:t>
            </a:r>
            <a:r>
              <a:rPr lang="en-IN" sz="1000" b="1" dirty="0">
                <a:solidFill>
                  <a:srgbClr val="00234B"/>
                </a:solidFill>
                <a:latin typeface="Verdana"/>
                <a:cs typeface="Arial" panose="020B0604020202020204" pitchFamily="34" charset="0"/>
              </a:rPr>
              <a:t> - ( Feb 2018 – Feb 2020) Quality Engineer </a:t>
            </a:r>
          </a:p>
          <a:p>
            <a:endParaRPr lang="en-US" sz="1000" b="1" dirty="0">
              <a:solidFill>
                <a:srgbClr val="00234B"/>
              </a:solidFill>
              <a:latin typeface="Verdana"/>
              <a:cs typeface="Arial" panose="020B0604020202020204" pitchFamily="34" charset="0"/>
            </a:endParaRPr>
          </a:p>
          <a:p>
            <a:pPr marL="171450" indent="-171450">
              <a:buFont typeface="Arial" panose="020B0604020202020204" pitchFamily="34" charset="0"/>
              <a:buChar char="•"/>
            </a:pPr>
            <a:r>
              <a:rPr lang="en-US" sz="1000" dirty="0">
                <a:solidFill>
                  <a:schemeClr val="tx1"/>
                </a:solidFill>
                <a:latin typeface="Verdana"/>
                <a:cs typeface="Arial" panose="020B0604020202020204" pitchFamily="34" charset="0"/>
              </a:rPr>
              <a:t>Mehta Services can handle the technical aspects so that you can focus on what your business does best. From single computers to the entire office including servers, printers, backup and storage.</a:t>
            </a:r>
          </a:p>
          <a:p>
            <a:pPr marL="171450" indent="-171450">
              <a:buFont typeface="Arial" panose="020B0604020202020204" pitchFamily="34" charset="0"/>
              <a:buChar char="•"/>
            </a:pPr>
            <a:r>
              <a:rPr lang="en-US" sz="1000" dirty="0">
                <a:solidFill>
                  <a:schemeClr val="tx1"/>
                </a:solidFill>
                <a:latin typeface="Verdana"/>
                <a:cs typeface="Arial" panose="020B0604020202020204" pitchFamily="34" charset="0"/>
              </a:rPr>
              <a:t>Wired and wireless networks, software installation and </a:t>
            </a:r>
            <a:r>
              <a:rPr lang="en-US" sz="1000">
                <a:solidFill>
                  <a:schemeClr val="tx1"/>
                </a:solidFill>
                <a:latin typeface="Verdana"/>
                <a:cs typeface="Arial" panose="020B0604020202020204" pitchFamily="34" charset="0"/>
              </a:rPr>
              <a:t>troubleshooting.</a:t>
            </a:r>
            <a:r>
              <a:rPr lang="en-US" sz="1050">
                <a:latin typeface="Verdana" panose="020B0604030504040204" pitchFamily="34" charset="0"/>
                <a:ea typeface="Verdana" panose="020B0604030504040204" pitchFamily="34" charset="0"/>
                <a:sym typeface="BentonSansF Book"/>
              </a:rPr>
              <a:t>Password</a:t>
            </a:r>
            <a:r>
              <a:rPr lang="en-US" sz="1050" dirty="0">
                <a:latin typeface="Verdana" panose="020B0604030504040204" pitchFamily="34" charset="0"/>
                <a:ea typeface="Verdana" panose="020B0604030504040204" pitchFamily="34" charset="0"/>
                <a:sym typeface="BentonSansF Book"/>
              </a:rPr>
              <a:t> for projects: SWANfrog@01</a:t>
            </a:r>
            <a:endParaRPr lang="en-IN" sz="1050" dirty="0">
              <a:latin typeface="Verdana" panose="020B0604030504040204" pitchFamily="34" charset="0"/>
              <a:ea typeface="Verdana" panose="020B0604030504040204" pitchFamily="34" charset="0"/>
              <a:sym typeface="BentonSansF Book"/>
            </a:endParaRPr>
          </a:p>
          <a:p>
            <a:endParaRPr lang="en-US" sz="1000" dirty="0">
              <a:solidFill>
                <a:schemeClr val="tx1"/>
              </a:solidFill>
              <a:latin typeface="Verdana"/>
              <a:cs typeface="Arial" panose="020B0604020202020204" pitchFamily="34" charset="0"/>
            </a:endParaRPr>
          </a:p>
          <a:p>
            <a:pPr defTabSz="411480" hangingPunct="0">
              <a:lnSpc>
                <a:spcPct val="120000"/>
              </a:lnSpc>
              <a:spcBef>
                <a:spcPts val="750"/>
              </a:spcBef>
              <a:buSzPct val="100000"/>
              <a:defRPr sz="1600">
                <a:uFillTx/>
              </a:defRPr>
            </a:pPr>
            <a:endParaRPr lang="en-US" sz="1400" b="1" dirty="0">
              <a:solidFill>
                <a:schemeClr val="tx1"/>
              </a:solidFill>
              <a:cs typeface="Arial" panose="020B0604020202020204" pitchFamily="34" charset="0"/>
            </a:endParaRPr>
          </a:p>
        </p:txBody>
      </p:sp>
      <p:cxnSp>
        <p:nvCxnSpPr>
          <p:cNvPr id="6" name="Straight Connector 5">
            <a:extLst>
              <a:ext uri="{FF2B5EF4-FFF2-40B4-BE49-F238E27FC236}">
                <a16:creationId xmlns:a16="http://schemas.microsoft.com/office/drawing/2014/main" id="{1F119AEC-6E75-3BC3-E368-595A70994D25}"/>
              </a:ext>
            </a:extLst>
          </p:cNvPr>
          <p:cNvCxnSpPr>
            <a:cxnSpLocks/>
          </p:cNvCxnSpPr>
          <p:nvPr/>
        </p:nvCxnSpPr>
        <p:spPr>
          <a:xfrm>
            <a:off x="6245072" y="5877272"/>
            <a:ext cx="134347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54AF6E7E-6B18-6ECA-2095-2691CC3E513E}"/>
              </a:ext>
            </a:extLst>
          </p:cNvPr>
          <p:cNvSpPr/>
          <p:nvPr/>
        </p:nvSpPr>
        <p:spPr>
          <a:xfrm>
            <a:off x="228600" y="6540500"/>
            <a:ext cx="4025900" cy="12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Tree>
    <p:extLst>
      <p:ext uri="{BB962C8B-B14F-4D97-AF65-F5344CB8AC3E}">
        <p14:creationId xmlns:p14="http://schemas.microsoft.com/office/powerpoint/2010/main" val="2909351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JkEkJW4qfkG6lPwNYIKZj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Xqfp1IbcEW4__OZ8Xm_v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3AVnwEgZE02RIj5vRIKSe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Xqfp1IbcEW4__OZ8Xm_v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IrxzKvC_i0ahFZKD0XoTL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hoPh2D9HPkmPtusZOCf2OA"/>
</p:tagLst>
</file>

<file path=ppt/theme/theme1.xml><?xml version="1.0" encoding="utf-8"?>
<a:theme xmlns:a="http://schemas.openxmlformats.org/drawingml/2006/main" name="Capgemini 2023">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 2023" id="{5B033297-CAB7-4298-A6CD-0610D8C39FDA}" vid="{54F5251A-5D00-48F2-B2A2-9E82056864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TotalTime>30</TotalTime>
  <Words>493</Words>
  <Application>Microsoft Office PowerPoint</Application>
  <PresentationFormat>Widescreen</PresentationFormat>
  <Paragraphs>39</Paragraphs>
  <Slides>1</Slides>
  <Notes>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13" baseType="lpstr">
      <vt:lpstr>Aptos</vt:lpstr>
      <vt:lpstr>Arial</vt:lpstr>
      <vt:lpstr>BentonSans Book</vt:lpstr>
      <vt:lpstr>BentonSansF Book</vt:lpstr>
      <vt:lpstr>Calibri</vt:lpstr>
      <vt:lpstr>Ubuntu</vt:lpstr>
      <vt:lpstr>Ubuntu Light</vt:lpstr>
      <vt:lpstr>Ubuntu Medium</vt:lpstr>
      <vt:lpstr>Verdana</vt:lpstr>
      <vt:lpstr>Wingdings</vt:lpstr>
      <vt:lpstr>Capgemini 2023</vt:lpstr>
      <vt:lpstr>think-cell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Thiribuvan M</dc:creator>
  <cp:lastModifiedBy>Nikam, Rajat</cp:lastModifiedBy>
  <cp:revision>7</cp:revision>
  <dcterms:created xsi:type="dcterms:W3CDTF">2025-05-15T06:07:57Z</dcterms:created>
  <dcterms:modified xsi:type="dcterms:W3CDTF">2025-08-25T11:10:01Z</dcterms:modified>
</cp:coreProperties>
</file>